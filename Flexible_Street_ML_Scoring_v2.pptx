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chose XGBoost as our scoring model instead of Random Forest.</a:t>
            </a:r>
          </a:p>
          <a:p/>
          <a:p>
            <a:r>
              <a:t>Both are tree-based ensemble methods, but the logic is different. Random Forest grows 500 trees independently in parallel and averages their results. XGBoost builds trees sequentially — each new tree is specifically designed to correct the errors made by the previous one, using gradient descent to minimize the prediction loss step by step.</a:t>
            </a:r>
          </a:p>
          <a:p/>
          <a:p>
            <a:r>
              <a:t>Both models support SHAP interpretability, so planners can still understand why a street gets a certain score.</a:t>
            </a:r>
          </a:p>
          <a:p/>
          <a:p>
            <a:r>
              <a:t>We did not choose deep learning because Philadelphia's Play Streets historical labels are limited to a few hundred records. Deep learning requires massive datasets to generalize well and tends to overfit on small ones. XGBoost is the industry-standard choice for small structured tabular data.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explains how we handle the seven different anchor types differently.</a:t>
            </a:r>
          </a:p>
          <a:p/>
          <a:p>
            <a:r>
              <a:t>The core idea is that all seven scenarios share the same feature schema, but each scenario has an independent XGBoost model with different feature weights.</a:t>
            </a:r>
          </a:p>
          <a:p/>
          <a:p>
            <a:r>
              <a:t>Take School Dismissal as an example. We split it into public and private schools. Public schools are mainly served by school buses — dismissal timing is standardized and predictable, so pedestrian safety weight is higher. Private schools have heavy car pickup, so parking conflict features carry more weight.</a:t>
            </a:r>
          </a:p>
          <a:p/>
          <a:p>
            <a:r>
              <a:t>Transit Zone uses 30th Street Station as a reference — the Amtrak and SEPTA transfer density is the key feature, and rush hour is a hard veto before the model even runs.</a:t>
            </a:r>
          </a:p>
          <a:p/>
          <a:p>
            <a:r>
              <a:t>The bottom row summarizes the shared mechanism: same feature schema, differentiated weights, hard constraints applied before model entry.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digs into how XGBoost actually learns.</a:t>
            </a:r>
          </a:p>
          <a:p/>
          <a:p>
            <a:r>
              <a:t>We start with two sets of training data. Positive samples come from the Philadelphia Play Streets Program — streets that have been officially approved for temporary closure. These are labeled 1. Negative samples come from Vision Zero high-accident corridors and peak-hour arterials, labeled 0.</a:t>
            </a:r>
          </a:p>
          <a:p/>
          <a:p>
            <a:r>
              <a:t>The boosting chain works like this. Tree 1 learns from the raw feature vectors and makes a first-pass prediction. It will be wrong on many samples — those errors are called residuals. Tree 2 is then trained specifically on those residuals, focusing on the cases Tree 1 got wrong. This produces a smaller set of residuals. The process repeats for up to 500 trees, with each tree correcting the previous one's mistakes. By the end, the cumulative prediction is highly accurate.</a:t>
            </a:r>
          </a:p>
          <a:p/>
          <a:p>
            <a:r>
              <a:t>The loss curve on the bottom left shows this visually — prediction error drops steeply in the first few trees and gradually flattens as the model converges.</a:t>
            </a:r>
          </a:p>
          <a:p/>
          <a:p>
            <a:r>
              <a:t>The bottom right shows feature importance for the School Dismissal scenario. Time match score has the highest importance, followed by pedestrian density and child density. This tells us which features XGBoost relied on most heavily during training.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shows the complete four-step pipeline.</a:t>
            </a:r>
          </a:p>
          <a:p/>
          <a:p>
            <a:r>
              <a:t>Step 1: Data ingestion. We pull from six public databases and use spatial joins to attach the relevant data to each anchor point on the map.</a:t>
            </a:r>
          </a:p>
          <a:p/>
          <a:p>
            <a:r>
              <a:t>Step 2: Feature engineering. We compute four categories of features for each anchor: temporal, activity, safety, and community. Hard constraints like emergency routes and rush-hour arterials are filtered out at this stage before the model runs.</a:t>
            </a:r>
          </a:p>
          <a:p/>
          <a:p>
            <a:r>
              <a:t>Step 3: XGBoost training. Positive labels come from Play Streets approvals, negative labels from Vision Zero and peak-hour arterials. Each of the seven scenarios trains its own independent XGBoost model with roughly 500 trees using gradient boosting.</a:t>
            </a:r>
          </a:p>
          <a:p/>
          <a:p>
            <a:r>
              <a:t>Step 4: Output. The FSI score is written to Supabase and displayed in the frontend. Each anchor shows a score from 0 to 100, a three-tier recommendation, and a SHAP breakdown of the main contributing factors.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final slide shows what planners actually see in the frontend.</a:t>
            </a:r>
          </a:p>
          <a:p/>
          <a:p>
            <a:r>
              <a:t>When a planner clicks any anchor on the map, a detail panel appears on the right side of the screen showing three sections.</a:t>
            </a:r>
          </a:p>
          <a:p/>
          <a:p>
            <a:r>
              <a:t>The first section is the FSI score and recommendation. In this example, Clark Elementary School scores 82 out of 100, placing it in the Recommend Open tier.</a:t>
            </a:r>
          </a:p>
          <a:p/>
          <a:p>
            <a:r>
              <a:t>The second section is the SHAP factor breakdown. This explains how the 82 was reached: dismissal time match contributes plus 35, low traffic conflict adds 28, high child density adds 19, but a nearby SEPTA bus route subtracts 12, and moderate parking demand subtracts 8.</a:t>
            </a:r>
          </a:p>
          <a:p/>
          <a:p>
            <a:r>
              <a:t>The third section explains why SHAP matters. Planners need to be able to explain their decisions to city government and community members. SHAP turns the model's internal reasoning into plain positive and negative contributions for each feature, making the decision transparent and defensible.</a:t>
            </a:r>
          </a:p>
          <a:p/>
          <a:p>
            <a:r>
              <a:t>The three tiers at the top right define the thresholds: 70 to 100 is recommend open, 40 to 69 requires traffic control measures, and 0 to 39 means the street should not be opened.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F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7120" y="6492240"/>
            <a:ext cx="822960" cy="320040"/>
          </a:xfrm>
          <a:prstGeom prst="rect">
            <a:avLst/>
          </a:prstGeom>
          <a:noFill/>
        </p:spPr>
        <p:txBody>
          <a:bodyPr wrap="square">
            <a:spAutoFit/>
          </a:bodyPr>
          <a:lstStyle/>
          <a:p>
            <a:pPr algn="r"/>
            <a:r>
              <a:rPr sz="1000" b="0" i="0">
                <a:solidFill>
                  <a:srgbClr val="9CA3AF"/>
                </a:solidFill>
              </a:rPr>
              <a:t>1 / 5</a:t>
            </a:r>
            <a:endParaRPr sz="1000" b="0" i="0">
              <a:solidFill>
                <a:srgbClr val="9CA3AF"/>
              </a:solidFill>
            </a:endParaRPr>
          </a:p>
        </p:txBody>
      </p:sp>
      <p:sp>
        <p:nvSpPr>
          <p:cNvPr id="4" name="Rectangle 3"/>
          <p:cNvSpPr/>
          <p:nvPr/>
        </p:nvSpPr>
        <p:spPr>
          <a:xfrm>
            <a:off x="457200" y="201168"/>
            <a:ext cx="2377440" cy="34747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219456"/>
            <a:ext cx="2286000" cy="301752"/>
          </a:xfrm>
          <a:prstGeom prst="rect">
            <a:avLst/>
          </a:prstGeom>
          <a:noFill/>
        </p:spPr>
        <p:txBody>
          <a:bodyPr wrap="square">
            <a:spAutoFit/>
          </a:bodyPr>
          <a:lstStyle/>
          <a:p>
            <a:pPr algn="l"/>
            <a:r>
              <a:rPr sz="1100" b="1" i="0">
                <a:solidFill>
                  <a:srgbClr val="0D0F1A"/>
                </a:solidFill>
              </a:rPr>
              <a:t>MODEL SELECTION</a:t>
            </a:r>
            <a:endParaRPr sz="1100" b="1" i="0">
              <a:solidFill>
                <a:srgbClr val="0D0F1A"/>
              </a:solidFill>
            </a:endParaRPr>
          </a:p>
        </p:txBody>
      </p:sp>
      <p:sp>
        <p:nvSpPr>
          <p:cNvPr id="6" name="TextBox 5"/>
          <p:cNvSpPr txBox="1"/>
          <p:nvPr/>
        </p:nvSpPr>
        <p:spPr>
          <a:xfrm>
            <a:off x="502920" y="685800"/>
            <a:ext cx="10972800" cy="594360"/>
          </a:xfrm>
          <a:prstGeom prst="rect">
            <a:avLst/>
          </a:prstGeom>
          <a:noFill/>
        </p:spPr>
        <p:txBody>
          <a:bodyPr wrap="square">
            <a:spAutoFit/>
          </a:bodyPr>
          <a:lstStyle/>
          <a:p>
            <a:pPr algn="l"/>
            <a:r>
              <a:rPr sz="3600" b="1" i="0">
                <a:solidFill>
                  <a:srgbClr val="FFFFFF"/>
                </a:solidFill>
              </a:rPr>
              <a:t>Why XGBoost?</a:t>
            </a:r>
            <a:endParaRPr sz="3600" b="1" i="0">
              <a:solidFill>
                <a:srgbClr val="FFFFFF"/>
              </a:solidFill>
            </a:endParaRPr>
          </a:p>
        </p:txBody>
      </p:sp>
      <p:sp>
        <p:nvSpPr>
          <p:cNvPr id="7" name="TextBox 6"/>
          <p:cNvSpPr txBox="1"/>
          <p:nvPr/>
        </p:nvSpPr>
        <p:spPr>
          <a:xfrm>
            <a:off x="502920" y="1325880"/>
            <a:ext cx="10972800" cy="365760"/>
          </a:xfrm>
          <a:prstGeom prst="rect">
            <a:avLst/>
          </a:prstGeom>
          <a:noFill/>
        </p:spPr>
        <p:txBody>
          <a:bodyPr wrap="square">
            <a:spAutoFit/>
          </a:bodyPr>
          <a:lstStyle/>
          <a:p>
            <a:pPr algn="l"/>
            <a:r>
              <a:rPr sz="1500" b="0" i="0">
                <a:solidFill>
                  <a:srgbClr val="9CA3AF"/>
                </a:solidFill>
              </a:rPr>
              <a:t>More accurate than Random Forest, still interpretable, ideal for small structured datasets</a:t>
            </a:r>
            <a:endParaRPr sz="1500" b="0" i="0">
              <a:solidFill>
                <a:srgbClr val="9CA3AF"/>
              </a:solidFill>
            </a:endParaRPr>
          </a:p>
        </p:txBody>
      </p:sp>
      <p:sp>
        <p:nvSpPr>
          <p:cNvPr id="8" name="Rectangle 7"/>
          <p:cNvSpPr/>
          <p:nvPr/>
        </p:nvSpPr>
        <p:spPr>
          <a:xfrm>
            <a:off x="320040" y="1828800"/>
            <a:ext cx="5394960" cy="443484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20240"/>
            <a:ext cx="5029200" cy="384048"/>
          </a:xfrm>
          <a:prstGeom prst="rect">
            <a:avLst/>
          </a:prstGeom>
          <a:noFill/>
        </p:spPr>
        <p:txBody>
          <a:bodyPr wrap="square">
            <a:spAutoFit/>
          </a:bodyPr>
          <a:lstStyle/>
          <a:p>
            <a:pPr algn="l"/>
            <a:r>
              <a:rPr sz="1400" b="1" i="0">
                <a:solidFill>
                  <a:srgbClr val="9CA3AF"/>
                </a:solidFill>
              </a:rPr>
              <a:t>Random Forest  (baseline)</a:t>
            </a:r>
            <a:endParaRPr sz="1400" b="1" i="0">
              <a:solidFill>
                <a:srgbClr val="9CA3AF"/>
              </a:solidFill>
            </a:endParaRPr>
          </a:p>
        </p:txBody>
      </p:sp>
      <p:sp>
        <p:nvSpPr>
          <p:cNvPr id="10" name="TextBox 9"/>
          <p:cNvSpPr txBox="1"/>
          <p:nvPr/>
        </p:nvSpPr>
        <p:spPr>
          <a:xfrm>
            <a:off x="548640" y="2450592"/>
            <a:ext cx="5029200" cy="438912"/>
          </a:xfrm>
          <a:prstGeom prst="rect">
            <a:avLst/>
          </a:prstGeom>
          <a:noFill/>
        </p:spPr>
        <p:txBody>
          <a:bodyPr wrap="square">
            <a:spAutoFit/>
          </a:bodyPr>
          <a:lstStyle/>
          <a:p>
            <a:pPr algn="l"/>
            <a:r>
              <a:rPr sz="1300" b="0" i="0">
                <a:solidFill>
                  <a:srgbClr val="9CA3AF"/>
                </a:solidFill>
              </a:rPr>
              <a:t>  500 trees grow independently in parallel</a:t>
            </a:r>
            <a:endParaRPr sz="1300" b="0" i="0">
              <a:solidFill>
                <a:srgbClr val="9CA3AF"/>
              </a:solidFill>
            </a:endParaRPr>
          </a:p>
        </p:txBody>
      </p:sp>
      <p:sp>
        <p:nvSpPr>
          <p:cNvPr id="11" name="TextBox 10"/>
          <p:cNvSpPr txBox="1"/>
          <p:nvPr/>
        </p:nvSpPr>
        <p:spPr>
          <a:xfrm>
            <a:off x="548640" y="2953512"/>
            <a:ext cx="5029200" cy="438912"/>
          </a:xfrm>
          <a:prstGeom prst="rect">
            <a:avLst/>
          </a:prstGeom>
          <a:noFill/>
        </p:spPr>
        <p:txBody>
          <a:bodyPr wrap="square">
            <a:spAutoFit/>
          </a:bodyPr>
          <a:lstStyle/>
          <a:p>
            <a:pPr algn="l"/>
            <a:r>
              <a:rPr sz="1300" b="0" i="0">
                <a:solidFill>
                  <a:srgbClr val="9CA3AF"/>
                </a:solidFill>
              </a:rPr>
              <a:t>  Each tree sees a random data subset</a:t>
            </a:r>
            <a:endParaRPr sz="1300" b="0" i="0">
              <a:solidFill>
                <a:srgbClr val="9CA3AF"/>
              </a:solidFill>
            </a:endParaRPr>
          </a:p>
        </p:txBody>
      </p:sp>
      <p:sp>
        <p:nvSpPr>
          <p:cNvPr id="12" name="TextBox 11"/>
          <p:cNvSpPr txBox="1"/>
          <p:nvPr/>
        </p:nvSpPr>
        <p:spPr>
          <a:xfrm>
            <a:off x="548640" y="3456432"/>
            <a:ext cx="5029200" cy="438912"/>
          </a:xfrm>
          <a:prstGeom prst="rect">
            <a:avLst/>
          </a:prstGeom>
          <a:noFill/>
        </p:spPr>
        <p:txBody>
          <a:bodyPr wrap="square">
            <a:spAutoFit/>
          </a:bodyPr>
          <a:lstStyle/>
          <a:p>
            <a:pPr algn="l"/>
            <a:r>
              <a:rPr sz="1300" b="0" i="0">
                <a:solidFill>
                  <a:srgbClr val="9CA3AF"/>
                </a:solidFill>
              </a:rPr>
              <a:t>  Final prediction = average of all trees</a:t>
            </a:r>
            <a:endParaRPr sz="1300" b="0" i="0">
              <a:solidFill>
                <a:srgbClr val="9CA3AF"/>
              </a:solidFill>
            </a:endParaRPr>
          </a:p>
        </p:txBody>
      </p:sp>
      <p:sp>
        <p:nvSpPr>
          <p:cNvPr id="13" name="TextBox 12"/>
          <p:cNvSpPr txBox="1"/>
          <p:nvPr/>
        </p:nvSpPr>
        <p:spPr>
          <a:xfrm>
            <a:off x="548640" y="3959352"/>
            <a:ext cx="5029200" cy="438912"/>
          </a:xfrm>
          <a:prstGeom prst="rect">
            <a:avLst/>
          </a:prstGeom>
          <a:noFill/>
        </p:spPr>
        <p:txBody>
          <a:bodyPr wrap="square">
            <a:spAutoFit/>
          </a:bodyPr>
          <a:lstStyle/>
          <a:p>
            <a:pPr algn="l"/>
            <a:r>
              <a:rPr sz="1300" b="0" i="0">
                <a:solidFill>
                  <a:srgbClr val="9CA3AF"/>
                </a:solidFill>
              </a:rPr>
              <a:t>  Supports SHAP interpretability</a:t>
            </a:r>
            <a:endParaRPr sz="1300" b="0" i="0">
              <a:solidFill>
                <a:srgbClr val="9CA3AF"/>
              </a:solidFill>
            </a:endParaRPr>
          </a:p>
        </p:txBody>
      </p:sp>
      <p:sp>
        <p:nvSpPr>
          <p:cNvPr id="14" name="TextBox 13"/>
          <p:cNvSpPr txBox="1"/>
          <p:nvPr/>
        </p:nvSpPr>
        <p:spPr>
          <a:xfrm>
            <a:off x="5760720" y="3749039"/>
            <a:ext cx="640080" cy="502920"/>
          </a:xfrm>
          <a:prstGeom prst="rect">
            <a:avLst/>
          </a:prstGeom>
          <a:noFill/>
        </p:spPr>
        <p:txBody>
          <a:bodyPr wrap="square">
            <a:spAutoFit/>
          </a:bodyPr>
          <a:lstStyle/>
          <a:p>
            <a:pPr algn="ctr"/>
            <a:r>
              <a:rPr sz="2000" b="1" i="0">
                <a:solidFill>
                  <a:srgbClr val="6EE7B7"/>
                </a:solidFill>
              </a:rPr>
              <a:t>vs</a:t>
            </a:r>
            <a:endParaRPr sz="2000" b="1" i="0">
              <a:solidFill>
                <a:srgbClr val="6EE7B7"/>
              </a:solidFill>
            </a:endParaRPr>
          </a:p>
        </p:txBody>
      </p:sp>
      <p:sp>
        <p:nvSpPr>
          <p:cNvPr id="15" name="Rectangle 14"/>
          <p:cNvSpPr/>
          <p:nvPr/>
        </p:nvSpPr>
        <p:spPr>
          <a:xfrm>
            <a:off x="5989320" y="1828800"/>
            <a:ext cx="5852160" cy="443484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89320" y="1828800"/>
            <a:ext cx="5852160"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1920240"/>
            <a:ext cx="5486400" cy="384048"/>
          </a:xfrm>
          <a:prstGeom prst="rect">
            <a:avLst/>
          </a:prstGeom>
          <a:noFill/>
        </p:spPr>
        <p:txBody>
          <a:bodyPr wrap="square">
            <a:spAutoFit/>
          </a:bodyPr>
          <a:lstStyle/>
          <a:p>
            <a:pPr algn="l"/>
            <a:r>
              <a:rPr sz="1400" b="1" i="0">
                <a:solidFill>
                  <a:srgbClr val="6EE7B7"/>
                </a:solidFill>
              </a:rPr>
              <a:t>XGBoost  (recommended)</a:t>
            </a:r>
            <a:endParaRPr sz="1400" b="1" i="0">
              <a:solidFill>
                <a:srgbClr val="6EE7B7"/>
              </a:solidFill>
            </a:endParaRPr>
          </a:p>
        </p:txBody>
      </p:sp>
      <p:sp>
        <p:nvSpPr>
          <p:cNvPr id="18" name="TextBox 17"/>
          <p:cNvSpPr txBox="1"/>
          <p:nvPr/>
        </p:nvSpPr>
        <p:spPr>
          <a:xfrm>
            <a:off x="6172200" y="2450592"/>
            <a:ext cx="5577840" cy="438912"/>
          </a:xfrm>
          <a:prstGeom prst="rect">
            <a:avLst/>
          </a:prstGeom>
          <a:noFill/>
        </p:spPr>
        <p:txBody>
          <a:bodyPr wrap="square">
            <a:spAutoFit/>
          </a:bodyPr>
          <a:lstStyle/>
          <a:p>
            <a:pPr algn="l"/>
            <a:r>
              <a:rPr sz="1300" b="0" i="0">
                <a:solidFill>
                  <a:srgbClr val="6EE7B7"/>
                </a:solidFill>
              </a:rPr>
              <a:t>  Trees built sequentially, not in parallel</a:t>
            </a:r>
            <a:endParaRPr sz="1300" b="0" i="0">
              <a:solidFill>
                <a:srgbClr val="6EE7B7"/>
              </a:solidFill>
            </a:endParaRPr>
          </a:p>
        </p:txBody>
      </p:sp>
      <p:sp>
        <p:nvSpPr>
          <p:cNvPr id="19" name="TextBox 18"/>
          <p:cNvSpPr txBox="1"/>
          <p:nvPr/>
        </p:nvSpPr>
        <p:spPr>
          <a:xfrm>
            <a:off x="6172200" y="2953512"/>
            <a:ext cx="5577840" cy="438912"/>
          </a:xfrm>
          <a:prstGeom prst="rect">
            <a:avLst/>
          </a:prstGeom>
          <a:noFill/>
        </p:spPr>
        <p:txBody>
          <a:bodyPr wrap="square">
            <a:spAutoFit/>
          </a:bodyPr>
          <a:lstStyle/>
          <a:p>
            <a:pPr algn="l"/>
            <a:r>
              <a:rPr sz="1300" b="0" i="0">
                <a:solidFill>
                  <a:srgbClr val="6EE7B7"/>
                </a:solidFill>
              </a:rPr>
              <a:t>  Each new tree corrects the previous tree's errors</a:t>
            </a:r>
            <a:endParaRPr sz="1300" b="0" i="0">
              <a:solidFill>
                <a:srgbClr val="6EE7B7"/>
              </a:solidFill>
            </a:endParaRPr>
          </a:p>
        </p:txBody>
      </p:sp>
      <p:sp>
        <p:nvSpPr>
          <p:cNvPr id="20" name="TextBox 19"/>
          <p:cNvSpPr txBox="1"/>
          <p:nvPr/>
        </p:nvSpPr>
        <p:spPr>
          <a:xfrm>
            <a:off x="6172200" y="3456432"/>
            <a:ext cx="5577840" cy="438912"/>
          </a:xfrm>
          <a:prstGeom prst="rect">
            <a:avLst/>
          </a:prstGeom>
          <a:noFill/>
        </p:spPr>
        <p:txBody>
          <a:bodyPr wrap="square">
            <a:spAutoFit/>
          </a:bodyPr>
          <a:lstStyle/>
          <a:p>
            <a:pPr algn="l"/>
            <a:r>
              <a:rPr sz="1300" b="0" i="0">
                <a:solidFill>
                  <a:srgbClr val="6EE7B7"/>
                </a:solidFill>
              </a:rPr>
              <a:t>  Gradient descent minimizes prediction loss</a:t>
            </a:r>
            <a:endParaRPr sz="1300" b="0" i="0">
              <a:solidFill>
                <a:srgbClr val="6EE7B7"/>
              </a:solidFill>
            </a:endParaRPr>
          </a:p>
        </p:txBody>
      </p:sp>
      <p:sp>
        <p:nvSpPr>
          <p:cNvPr id="21" name="TextBox 20"/>
          <p:cNvSpPr txBox="1"/>
          <p:nvPr/>
        </p:nvSpPr>
        <p:spPr>
          <a:xfrm>
            <a:off x="6172200" y="3959352"/>
            <a:ext cx="5577840" cy="438912"/>
          </a:xfrm>
          <a:prstGeom prst="rect">
            <a:avLst/>
          </a:prstGeom>
          <a:noFill/>
        </p:spPr>
        <p:txBody>
          <a:bodyPr wrap="square">
            <a:spAutoFit/>
          </a:bodyPr>
          <a:lstStyle/>
          <a:p>
            <a:pPr algn="l"/>
            <a:r>
              <a:rPr sz="1300" b="0" i="0">
                <a:solidFill>
                  <a:srgbClr val="6EE7B7"/>
                </a:solidFill>
              </a:rPr>
              <a:t>  Higher accuracy on same data volume</a:t>
            </a:r>
            <a:endParaRPr sz="1300" b="0" i="0">
              <a:solidFill>
                <a:srgbClr val="6EE7B7"/>
              </a:solidFill>
            </a:endParaRPr>
          </a:p>
        </p:txBody>
      </p:sp>
      <p:sp>
        <p:nvSpPr>
          <p:cNvPr id="22" name="TextBox 21"/>
          <p:cNvSpPr txBox="1"/>
          <p:nvPr/>
        </p:nvSpPr>
        <p:spPr>
          <a:xfrm>
            <a:off x="6172200" y="4462272"/>
            <a:ext cx="5577840" cy="438912"/>
          </a:xfrm>
          <a:prstGeom prst="rect">
            <a:avLst/>
          </a:prstGeom>
          <a:noFill/>
        </p:spPr>
        <p:txBody>
          <a:bodyPr wrap="square">
            <a:spAutoFit/>
          </a:bodyPr>
          <a:lstStyle/>
          <a:p>
            <a:pPr algn="l"/>
            <a:r>
              <a:rPr sz="1300" b="0" i="0">
                <a:solidFill>
                  <a:srgbClr val="6EE7B7"/>
                </a:solidFill>
              </a:rPr>
              <a:t>  Supports SHAP interpretability</a:t>
            </a:r>
            <a:endParaRPr sz="1300" b="0" i="0">
              <a:solidFill>
                <a:srgbClr val="6EE7B7"/>
              </a:solidFill>
            </a:endParaRPr>
          </a:p>
        </p:txBody>
      </p:sp>
      <p:sp>
        <p:nvSpPr>
          <p:cNvPr id="23" name="Rectangle 22"/>
          <p:cNvSpPr/>
          <p:nvPr/>
        </p:nvSpPr>
        <p:spPr>
          <a:xfrm>
            <a:off x="320040" y="4645152"/>
            <a:ext cx="5532120" cy="1463040"/>
          </a:xfrm>
          <a:prstGeom prst="rect">
            <a:avLst/>
          </a:prstGeom>
          <a:solidFill>
            <a:srgbClr val="101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736592"/>
            <a:ext cx="5212080" cy="320040"/>
          </a:xfrm>
          <a:prstGeom prst="rect">
            <a:avLst/>
          </a:prstGeom>
          <a:noFill/>
        </p:spPr>
        <p:txBody>
          <a:bodyPr wrap="square">
            <a:spAutoFit/>
          </a:bodyPr>
          <a:lstStyle/>
          <a:p>
            <a:pPr algn="l"/>
            <a:r>
              <a:rPr sz="1200" b="1" i="0">
                <a:solidFill>
                  <a:srgbClr val="FFFFFF"/>
                </a:solidFill>
              </a:rPr>
              <a:t>Core upgrade</a:t>
            </a:r>
            <a:endParaRPr sz="1200" b="1" i="0">
              <a:solidFill>
                <a:srgbClr val="FFFFFF"/>
              </a:solidFill>
            </a:endParaRPr>
          </a:p>
        </p:txBody>
      </p:sp>
      <p:sp>
        <p:nvSpPr>
          <p:cNvPr id="25" name="TextBox 24"/>
          <p:cNvSpPr txBox="1"/>
          <p:nvPr/>
        </p:nvSpPr>
        <p:spPr>
          <a:xfrm>
            <a:off x="502920" y="5074920"/>
            <a:ext cx="5212080" cy="960120"/>
          </a:xfrm>
          <a:prstGeom prst="rect">
            <a:avLst/>
          </a:prstGeom>
          <a:noFill/>
        </p:spPr>
        <p:txBody>
          <a:bodyPr wrap="square">
            <a:spAutoFit/>
          </a:bodyPr>
          <a:lstStyle/>
          <a:p>
            <a:pPr algn="l"/>
            <a:r>
              <a:rPr sz="1100" b="0" i="0">
                <a:solidFill>
                  <a:srgbClr val="9CA3AF"/>
                </a:solidFill>
              </a:rPr>
              <a:t>RF: all trees independent, errors remain
XGBoost: each tree focuses on what the
previous tree got wrong -&gt; error shrinks
with every iteration</a:t>
            </a:r>
            <a:endParaRPr sz="1100" b="0" i="0">
              <a:solidFill>
                <a:srgbClr val="9CA3AF"/>
              </a:solidFill>
            </a:endParaRPr>
          </a:p>
        </p:txBody>
      </p:sp>
      <p:sp>
        <p:nvSpPr>
          <p:cNvPr id="26" name="Rectangle 25"/>
          <p:cNvSpPr/>
          <p:nvPr/>
        </p:nvSpPr>
        <p:spPr>
          <a:xfrm>
            <a:off x="5989320" y="4645152"/>
            <a:ext cx="5852160" cy="1463040"/>
          </a:xfrm>
          <a:prstGeom prst="rect">
            <a:avLst/>
          </a:prstGeom>
          <a:solidFill>
            <a:srgbClr val="101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72200" y="4736592"/>
            <a:ext cx="5486400" cy="320040"/>
          </a:xfrm>
          <a:prstGeom prst="rect">
            <a:avLst/>
          </a:prstGeom>
          <a:noFill/>
        </p:spPr>
        <p:txBody>
          <a:bodyPr wrap="square">
            <a:spAutoFit/>
          </a:bodyPr>
          <a:lstStyle/>
          <a:p>
            <a:pPr algn="l"/>
            <a:r>
              <a:rPr sz="1200" b="1" i="0">
                <a:solidFill>
                  <a:srgbClr val="FFFFFF"/>
                </a:solidFill>
              </a:rPr>
              <a:t>Why not Deep Learning?</a:t>
            </a:r>
            <a:endParaRPr sz="1200" b="1" i="0">
              <a:solidFill>
                <a:srgbClr val="FFFFFF"/>
              </a:solidFill>
            </a:endParaRPr>
          </a:p>
        </p:txBody>
      </p:sp>
      <p:sp>
        <p:nvSpPr>
          <p:cNvPr id="28" name="TextBox 27"/>
          <p:cNvSpPr txBox="1"/>
          <p:nvPr/>
        </p:nvSpPr>
        <p:spPr>
          <a:xfrm>
            <a:off x="6172200" y="5074920"/>
            <a:ext cx="5577840" cy="960120"/>
          </a:xfrm>
          <a:prstGeom prst="rect">
            <a:avLst/>
          </a:prstGeom>
          <a:noFill/>
        </p:spPr>
        <p:txBody>
          <a:bodyPr wrap="square">
            <a:spAutoFit/>
          </a:bodyPr>
          <a:lstStyle/>
          <a:p>
            <a:pPr algn="l"/>
            <a:r>
              <a:rPr sz="1100" b="0" i="0">
                <a:solidFill>
                  <a:srgbClr val="9CA3AF"/>
                </a:solidFill>
              </a:rPr>
              <a:t>Philadelphia Play Streets labels are limited
(hundreds of records, not millions).
Deep learning needs massive data.
XGBoost dominates small structured datasets.</a:t>
            </a:r>
            <a:endParaRPr sz="1100" b="0" i="0">
              <a:solidFill>
                <a:srgbClr val="9CA3A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F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7120" y="6492240"/>
            <a:ext cx="822960" cy="320040"/>
          </a:xfrm>
          <a:prstGeom prst="rect">
            <a:avLst/>
          </a:prstGeom>
          <a:noFill/>
        </p:spPr>
        <p:txBody>
          <a:bodyPr wrap="square">
            <a:spAutoFit/>
          </a:bodyPr>
          <a:lstStyle/>
          <a:p>
            <a:pPr algn="r"/>
            <a:r>
              <a:rPr sz="1000" b="0" i="0">
                <a:solidFill>
                  <a:srgbClr val="9CA3AF"/>
                </a:solidFill>
              </a:rPr>
              <a:t>2 / 5</a:t>
            </a:r>
            <a:endParaRPr sz="1000" b="0" i="0">
              <a:solidFill>
                <a:srgbClr val="9CA3AF"/>
              </a:solidFill>
            </a:endParaRPr>
          </a:p>
        </p:txBody>
      </p:sp>
      <p:sp>
        <p:nvSpPr>
          <p:cNvPr id="4" name="Rectangle 3"/>
          <p:cNvSpPr/>
          <p:nvPr/>
        </p:nvSpPr>
        <p:spPr>
          <a:xfrm>
            <a:off x="457200" y="201168"/>
            <a:ext cx="2377440" cy="34747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219456"/>
            <a:ext cx="2286000" cy="301752"/>
          </a:xfrm>
          <a:prstGeom prst="rect">
            <a:avLst/>
          </a:prstGeom>
          <a:noFill/>
        </p:spPr>
        <p:txBody>
          <a:bodyPr wrap="square">
            <a:spAutoFit/>
          </a:bodyPr>
          <a:lstStyle/>
          <a:p>
            <a:pPr algn="l"/>
            <a:r>
              <a:rPr sz="1100" b="1" i="0">
                <a:solidFill>
                  <a:srgbClr val="0D0F1A"/>
                </a:solidFill>
              </a:rPr>
              <a:t>ANCHOR DIFFERENTIATION</a:t>
            </a:r>
            <a:endParaRPr sz="1100" b="1" i="0">
              <a:solidFill>
                <a:srgbClr val="0D0F1A"/>
              </a:solidFill>
            </a:endParaRPr>
          </a:p>
        </p:txBody>
      </p:sp>
      <p:sp>
        <p:nvSpPr>
          <p:cNvPr id="6" name="TextBox 5"/>
          <p:cNvSpPr txBox="1"/>
          <p:nvPr/>
        </p:nvSpPr>
        <p:spPr>
          <a:xfrm>
            <a:off x="502920" y="685800"/>
            <a:ext cx="10972800" cy="594360"/>
          </a:xfrm>
          <a:prstGeom prst="rect">
            <a:avLst/>
          </a:prstGeom>
          <a:noFill/>
        </p:spPr>
        <p:txBody>
          <a:bodyPr wrap="square">
            <a:spAutoFit/>
          </a:bodyPr>
          <a:lstStyle/>
          <a:p>
            <a:pPr algn="l"/>
            <a:r>
              <a:rPr sz="3400" b="1" i="0">
                <a:solidFill>
                  <a:srgbClr val="FFFFFF"/>
                </a:solidFill>
              </a:rPr>
              <a:t>Different Anchors, Different Scoring Logic</a:t>
            </a:r>
            <a:endParaRPr sz="3400" b="1" i="0">
              <a:solidFill>
                <a:srgbClr val="FFFFFF"/>
              </a:solidFill>
            </a:endParaRPr>
          </a:p>
        </p:txBody>
      </p:sp>
      <p:sp>
        <p:nvSpPr>
          <p:cNvPr id="7" name="TextBox 6"/>
          <p:cNvSpPr txBox="1"/>
          <p:nvPr/>
        </p:nvSpPr>
        <p:spPr>
          <a:xfrm>
            <a:off x="502920" y="1325880"/>
            <a:ext cx="10972800" cy="365760"/>
          </a:xfrm>
          <a:prstGeom prst="rect">
            <a:avLst/>
          </a:prstGeom>
          <a:noFill/>
        </p:spPr>
        <p:txBody>
          <a:bodyPr wrap="square">
            <a:spAutoFit/>
          </a:bodyPr>
          <a:lstStyle/>
          <a:p>
            <a:pPr algn="l"/>
            <a:r>
              <a:rPr sz="1500" b="0" i="0">
                <a:solidFill>
                  <a:srgbClr val="9CA3AF"/>
                </a:solidFill>
              </a:rPr>
              <a:t>7 scenario types — each trained as an independent XGBoost model with its own feature weights</a:t>
            </a:r>
            <a:endParaRPr sz="1500" b="0" i="0">
              <a:solidFill>
                <a:srgbClr val="9CA3AF"/>
              </a:solidFill>
            </a:endParaRPr>
          </a:p>
        </p:txBody>
      </p:sp>
      <p:sp>
        <p:nvSpPr>
          <p:cNvPr id="8" name="Rectangle 7"/>
          <p:cNvSpPr/>
          <p:nvPr/>
        </p:nvSpPr>
        <p:spPr>
          <a:xfrm>
            <a:off x="320040" y="1755648"/>
            <a:ext cx="1581912" cy="59436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 y="1792224"/>
            <a:ext cx="1490472" cy="530352"/>
          </a:xfrm>
          <a:prstGeom prst="rect">
            <a:avLst/>
          </a:prstGeom>
          <a:noFill/>
        </p:spPr>
        <p:txBody>
          <a:bodyPr wrap="square">
            <a:spAutoFit/>
          </a:bodyPr>
          <a:lstStyle/>
          <a:p>
            <a:pPr algn="l"/>
            <a:r>
              <a:rPr sz="900" b="1" i="0">
                <a:solidFill>
                  <a:srgbClr val="0D0F1A"/>
                </a:solidFill>
              </a:rPr>
              <a:t>School
Dismissal</a:t>
            </a:r>
            <a:endParaRPr sz="900" b="1" i="0">
              <a:solidFill>
                <a:srgbClr val="0D0F1A"/>
              </a:solidFill>
            </a:endParaRPr>
          </a:p>
        </p:txBody>
      </p:sp>
      <p:sp>
        <p:nvSpPr>
          <p:cNvPr id="10" name="Rectangle 9"/>
          <p:cNvSpPr/>
          <p:nvPr/>
        </p:nvSpPr>
        <p:spPr>
          <a:xfrm>
            <a:off x="32004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350008"/>
            <a:ext cx="45720" cy="414223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2414016"/>
            <a:ext cx="1444752" cy="398780"/>
          </a:xfrm>
          <a:prstGeom prst="rect">
            <a:avLst/>
          </a:prstGeom>
          <a:noFill/>
        </p:spPr>
        <p:txBody>
          <a:bodyPr wrap="square">
            <a:spAutoFit/>
          </a:bodyPr>
          <a:lstStyle/>
          <a:p>
            <a:pPr algn="l"/>
            <a:r>
              <a:rPr sz="1000" b="1" i="0">
                <a:solidFill>
                  <a:srgbClr val="60A5FA"/>
                </a:solidFill>
              </a:rPr>
              <a:t>Key: time_match
+ pedestrian_safety</a:t>
            </a:r>
            <a:endParaRPr sz="1000" b="1" i="0">
              <a:solidFill>
                <a:srgbClr val="60A5FA"/>
              </a:solidFill>
            </a:endParaRPr>
          </a:p>
        </p:txBody>
      </p:sp>
      <p:sp>
        <p:nvSpPr>
          <p:cNvPr id="13" name="TextBox 12"/>
          <p:cNvSpPr txBox="1"/>
          <p:nvPr/>
        </p:nvSpPr>
        <p:spPr>
          <a:xfrm>
            <a:off x="429768" y="3035808"/>
            <a:ext cx="1444752" cy="1568450"/>
          </a:xfrm>
          <a:prstGeom prst="rect">
            <a:avLst/>
          </a:prstGeom>
          <a:noFill/>
        </p:spPr>
        <p:txBody>
          <a:bodyPr wrap="square">
            <a:spAutoFit/>
          </a:bodyPr>
          <a:lstStyle/>
          <a:p>
            <a:pPr algn="l"/>
            <a:r>
              <a:rPr sz="1200" b="0" i="0">
                <a:solidFill>
                  <a:srgbClr val="FFFFFF"/>
                </a:solidFill>
              </a:rPr>
              <a:t>Public: school bus dominant
-&gt; step timing predictable
Private: car pickup heavy
-&gt; parking conflict weight up</a:t>
            </a:r>
            <a:endParaRPr sz="1200" b="0" i="0">
              <a:solidFill>
                <a:srgbClr val="FFFFFF"/>
              </a:solidFill>
            </a:endParaRPr>
          </a:p>
        </p:txBody>
      </p:sp>
      <p:sp>
        <p:nvSpPr>
          <p:cNvPr id="14" name="TextBox 13"/>
          <p:cNvSpPr txBox="1"/>
          <p:nvPr/>
        </p:nvSpPr>
        <p:spPr>
          <a:xfrm>
            <a:off x="429768" y="4617720"/>
            <a:ext cx="1444752" cy="460375"/>
          </a:xfrm>
          <a:prstGeom prst="rect">
            <a:avLst/>
          </a:prstGeom>
          <a:noFill/>
        </p:spPr>
        <p:txBody>
          <a:bodyPr wrap="square">
            <a:spAutoFit/>
          </a:bodyPr>
          <a:lstStyle/>
          <a:p>
            <a:pPr algn="l"/>
            <a:r>
              <a:rPr sz="1200" b="0" i="1">
                <a:solidFill>
                  <a:srgbClr val="9CA3AF"/>
                </a:solidFill>
              </a:rPr>
              <a:t>school_type=0/1
branches weight</a:t>
            </a:r>
            <a:endParaRPr sz="1200" b="0" i="1">
              <a:solidFill>
                <a:srgbClr val="9CA3AF"/>
              </a:solidFill>
            </a:endParaRPr>
          </a:p>
        </p:txBody>
      </p:sp>
      <p:sp>
        <p:nvSpPr>
          <p:cNvPr id="15" name="Rectangle 14"/>
          <p:cNvSpPr/>
          <p:nvPr/>
        </p:nvSpPr>
        <p:spPr>
          <a:xfrm>
            <a:off x="1965960" y="1755648"/>
            <a:ext cx="1581912" cy="5943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39112" y="1792224"/>
            <a:ext cx="1490472" cy="530352"/>
          </a:xfrm>
          <a:prstGeom prst="rect">
            <a:avLst/>
          </a:prstGeom>
          <a:noFill/>
        </p:spPr>
        <p:txBody>
          <a:bodyPr wrap="square">
            <a:spAutoFit/>
          </a:bodyPr>
          <a:lstStyle/>
          <a:p>
            <a:pPr algn="l"/>
            <a:r>
              <a:rPr sz="900" b="1" i="0">
                <a:solidFill>
                  <a:srgbClr val="0D0F1A"/>
                </a:solidFill>
              </a:rPr>
              <a:t>Weekend
Market</a:t>
            </a:r>
            <a:endParaRPr sz="900" b="1" i="0">
              <a:solidFill>
                <a:srgbClr val="0D0F1A"/>
              </a:solidFill>
            </a:endParaRPr>
          </a:p>
        </p:txBody>
      </p:sp>
      <p:sp>
        <p:nvSpPr>
          <p:cNvPr id="17" name="Rectangle 16"/>
          <p:cNvSpPr/>
          <p:nvPr/>
        </p:nvSpPr>
        <p:spPr>
          <a:xfrm>
            <a:off x="196596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965960" y="2350008"/>
            <a:ext cx="45720" cy="414223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75688" y="2414016"/>
            <a:ext cx="1444752" cy="398780"/>
          </a:xfrm>
          <a:prstGeom prst="rect">
            <a:avLst/>
          </a:prstGeom>
          <a:noFill/>
        </p:spPr>
        <p:txBody>
          <a:bodyPr wrap="square">
            <a:spAutoFit/>
          </a:bodyPr>
          <a:lstStyle/>
          <a:p>
            <a:pPr algn="l"/>
            <a:r>
              <a:rPr sz="1000" b="1" i="0">
                <a:solidFill>
                  <a:srgbClr val="FBBF24"/>
                </a:solidFill>
              </a:rPr>
              <a:t>Key: foot_traffic
+ is_food_desert</a:t>
            </a:r>
            <a:endParaRPr sz="1000" b="1" i="0">
              <a:solidFill>
                <a:srgbClr val="FBBF24"/>
              </a:solidFill>
            </a:endParaRPr>
          </a:p>
        </p:txBody>
      </p:sp>
      <p:sp>
        <p:nvSpPr>
          <p:cNvPr id="20" name="TextBox 19"/>
          <p:cNvSpPr txBox="1"/>
          <p:nvPr/>
        </p:nvSpPr>
        <p:spPr>
          <a:xfrm>
            <a:off x="2075688" y="3035808"/>
            <a:ext cx="1444752" cy="1198880"/>
          </a:xfrm>
          <a:prstGeom prst="rect">
            <a:avLst/>
          </a:prstGeom>
          <a:noFill/>
        </p:spPr>
        <p:txBody>
          <a:bodyPr wrap="square">
            <a:spAutoFit/>
          </a:bodyPr>
          <a:lstStyle/>
          <a:p>
            <a:pPr algn="l"/>
            <a:r>
              <a:rPr sz="1200" b="0" i="0">
                <a:solidFill>
                  <a:srgbClr val="FFFFFF"/>
                </a:solidFill>
              </a:rPr>
              <a:t>Weekend crowd density +
food desert community flag
Detour capacity of
surrounding streets</a:t>
            </a:r>
            <a:endParaRPr sz="1200" b="0" i="0">
              <a:solidFill>
                <a:srgbClr val="FFFFFF"/>
              </a:solidFill>
            </a:endParaRPr>
          </a:p>
        </p:txBody>
      </p:sp>
      <p:sp>
        <p:nvSpPr>
          <p:cNvPr id="21" name="TextBox 20"/>
          <p:cNvSpPr txBox="1"/>
          <p:nvPr/>
        </p:nvSpPr>
        <p:spPr>
          <a:xfrm>
            <a:off x="2075688" y="4617720"/>
            <a:ext cx="1444752" cy="460375"/>
          </a:xfrm>
          <a:prstGeom prst="rect">
            <a:avLst/>
          </a:prstGeom>
          <a:noFill/>
        </p:spPr>
        <p:txBody>
          <a:bodyPr wrap="square">
            <a:spAutoFit/>
          </a:bodyPr>
          <a:lstStyle/>
          <a:p>
            <a:pPr algn="l"/>
            <a:r>
              <a:rPr sz="1200" b="0" i="1">
                <a:solidFill>
                  <a:srgbClr val="9CA3AF"/>
                </a:solidFill>
              </a:rPr>
              <a:t>food_desert as
equity modifier</a:t>
            </a:r>
            <a:endParaRPr sz="1200" b="0" i="1">
              <a:solidFill>
                <a:srgbClr val="9CA3AF"/>
              </a:solidFill>
            </a:endParaRPr>
          </a:p>
        </p:txBody>
      </p:sp>
      <p:sp>
        <p:nvSpPr>
          <p:cNvPr id="22" name="Rectangle 21"/>
          <p:cNvSpPr/>
          <p:nvPr/>
        </p:nvSpPr>
        <p:spPr>
          <a:xfrm>
            <a:off x="3611880" y="1755648"/>
            <a:ext cx="1581912" cy="59436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85032" y="1792224"/>
            <a:ext cx="1490472" cy="530352"/>
          </a:xfrm>
          <a:prstGeom prst="rect">
            <a:avLst/>
          </a:prstGeom>
          <a:noFill/>
        </p:spPr>
        <p:txBody>
          <a:bodyPr wrap="square">
            <a:spAutoFit/>
          </a:bodyPr>
          <a:lstStyle/>
          <a:p>
            <a:pPr algn="l"/>
            <a:r>
              <a:rPr sz="900" b="1" i="0">
                <a:solidFill>
                  <a:srgbClr val="0D0F1A"/>
                </a:solidFill>
              </a:rPr>
              <a:t>Community
Event</a:t>
            </a:r>
            <a:endParaRPr sz="900" b="1" i="0">
              <a:solidFill>
                <a:srgbClr val="0D0F1A"/>
              </a:solidFill>
            </a:endParaRPr>
          </a:p>
        </p:txBody>
      </p:sp>
      <p:sp>
        <p:nvSpPr>
          <p:cNvPr id="24" name="Rectangle 23"/>
          <p:cNvSpPr/>
          <p:nvPr/>
        </p:nvSpPr>
        <p:spPr>
          <a:xfrm>
            <a:off x="361188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11880" y="2350008"/>
            <a:ext cx="45720" cy="414223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21608" y="2414016"/>
            <a:ext cx="1444752" cy="398780"/>
          </a:xfrm>
          <a:prstGeom prst="rect">
            <a:avLst/>
          </a:prstGeom>
          <a:noFill/>
        </p:spPr>
        <p:txBody>
          <a:bodyPr wrap="square">
            <a:spAutoFit/>
          </a:bodyPr>
          <a:lstStyle/>
          <a:p>
            <a:pPr algn="l"/>
            <a:r>
              <a:rPr sz="1000" b="1" i="0">
                <a:solidFill>
                  <a:srgbClr val="A78BFA"/>
                </a:solidFill>
              </a:rPr>
              <a:t>Key: schedule
+ detour_capacity</a:t>
            </a:r>
            <a:endParaRPr sz="1000" b="1" i="0">
              <a:solidFill>
                <a:srgbClr val="A78BFA"/>
              </a:solidFill>
            </a:endParaRPr>
          </a:p>
        </p:txBody>
      </p:sp>
      <p:sp>
        <p:nvSpPr>
          <p:cNvPr id="27" name="TextBox 26"/>
          <p:cNvSpPr txBox="1"/>
          <p:nvPr/>
        </p:nvSpPr>
        <p:spPr>
          <a:xfrm>
            <a:off x="3721608" y="3035808"/>
            <a:ext cx="1444752" cy="1383665"/>
          </a:xfrm>
          <a:prstGeom prst="rect">
            <a:avLst/>
          </a:prstGeom>
          <a:noFill/>
        </p:spPr>
        <p:txBody>
          <a:bodyPr wrap="square">
            <a:spAutoFit/>
          </a:bodyPr>
          <a:lstStyle/>
          <a:p>
            <a:pPr algn="l"/>
            <a:r>
              <a:rPr sz="1200" b="0" i="0">
                <a:solidFill>
                  <a:srgbClr val="FFFFFF"/>
                </a:solidFill>
              </a:rPr>
              <a:t>Does event have a fixed
predictable schedule</a:t>
            </a:r>
            <a:r>
              <a:rPr sz="1200" b="0" i="0">
                <a:solidFill>
                  <a:srgbClr val="FFFFFF"/>
                </a:solidFill>
              </a:rPr>
              <a:t>?
Can nearby roads absorb
diverted traffic?</a:t>
            </a:r>
            <a:endParaRPr sz="1200" b="0" i="0">
              <a:solidFill>
                <a:srgbClr val="FFFFFF"/>
              </a:solidFill>
            </a:endParaRPr>
          </a:p>
        </p:txBody>
      </p:sp>
      <p:sp>
        <p:nvSpPr>
          <p:cNvPr id="28" name="TextBox 27"/>
          <p:cNvSpPr txBox="1"/>
          <p:nvPr/>
        </p:nvSpPr>
        <p:spPr>
          <a:xfrm>
            <a:off x="3721608" y="4617720"/>
            <a:ext cx="1444752" cy="645160"/>
          </a:xfrm>
          <a:prstGeom prst="rect">
            <a:avLst/>
          </a:prstGeom>
          <a:noFill/>
        </p:spPr>
        <p:txBody>
          <a:bodyPr wrap="square">
            <a:spAutoFit/>
          </a:bodyPr>
          <a:lstStyle/>
          <a:p>
            <a:pPr algn="l"/>
            <a:r>
              <a:rPr sz="1200" b="0" i="1">
                <a:solidFill>
                  <a:srgbClr val="9CA3AF"/>
                </a:solidFill>
              </a:rPr>
              <a:t>Trained separately
from Weekend Market</a:t>
            </a:r>
            <a:endParaRPr sz="1200" b="0" i="1">
              <a:solidFill>
                <a:srgbClr val="9CA3AF"/>
              </a:solidFill>
            </a:endParaRPr>
          </a:p>
        </p:txBody>
      </p:sp>
      <p:sp>
        <p:nvSpPr>
          <p:cNvPr id="29" name="Rectangle 28"/>
          <p:cNvSpPr/>
          <p:nvPr/>
        </p:nvSpPr>
        <p:spPr>
          <a:xfrm>
            <a:off x="5257800" y="1755648"/>
            <a:ext cx="1581912" cy="59436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30952" y="1792224"/>
            <a:ext cx="1490472" cy="530352"/>
          </a:xfrm>
          <a:prstGeom prst="rect">
            <a:avLst/>
          </a:prstGeom>
          <a:noFill/>
        </p:spPr>
        <p:txBody>
          <a:bodyPr wrap="square">
            <a:spAutoFit/>
          </a:bodyPr>
          <a:lstStyle/>
          <a:p>
            <a:pPr algn="l"/>
            <a:r>
              <a:rPr sz="900" b="1" i="0">
                <a:solidFill>
                  <a:srgbClr val="0D0F1A"/>
                </a:solidFill>
              </a:rPr>
              <a:t>Dining
Activation</a:t>
            </a:r>
            <a:endParaRPr sz="900" b="1" i="0">
              <a:solidFill>
                <a:srgbClr val="0D0F1A"/>
              </a:solidFill>
            </a:endParaRPr>
          </a:p>
        </p:txBody>
      </p:sp>
      <p:sp>
        <p:nvSpPr>
          <p:cNvPr id="31" name="Rectangle 30"/>
          <p:cNvSpPr/>
          <p:nvPr/>
        </p:nvSpPr>
        <p:spPr>
          <a:xfrm>
            <a:off x="525780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257800" y="2350008"/>
            <a:ext cx="45720" cy="414223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67528" y="2414016"/>
            <a:ext cx="1444752" cy="398780"/>
          </a:xfrm>
          <a:prstGeom prst="rect">
            <a:avLst/>
          </a:prstGeom>
          <a:noFill/>
        </p:spPr>
        <p:txBody>
          <a:bodyPr wrap="square">
            <a:spAutoFit/>
          </a:bodyPr>
          <a:lstStyle/>
          <a:p>
            <a:pPr algn="l"/>
            <a:r>
              <a:rPr sz="1000" b="1" i="0">
                <a:solidFill>
                  <a:srgbClr val="F87171"/>
                </a:solidFill>
              </a:rPr>
              <a:t>Key: is_evening
+ weather_score</a:t>
            </a:r>
            <a:endParaRPr sz="1000" b="1" i="0">
              <a:solidFill>
                <a:srgbClr val="F87171"/>
              </a:solidFill>
            </a:endParaRPr>
          </a:p>
        </p:txBody>
      </p:sp>
      <p:sp>
        <p:nvSpPr>
          <p:cNvPr id="34" name="TextBox 33"/>
          <p:cNvSpPr txBox="1"/>
          <p:nvPr/>
        </p:nvSpPr>
        <p:spPr>
          <a:xfrm>
            <a:off x="5367528" y="3035808"/>
            <a:ext cx="1444752" cy="1568450"/>
          </a:xfrm>
          <a:prstGeom prst="rect">
            <a:avLst/>
          </a:prstGeom>
          <a:noFill/>
        </p:spPr>
        <p:txBody>
          <a:bodyPr wrap="square">
            <a:spAutoFit/>
          </a:bodyPr>
          <a:lstStyle/>
          <a:p>
            <a:pPr algn="l"/>
            <a:r>
              <a:rPr sz="1200" b="0" i="0">
                <a:solidFill>
                  <a:srgbClr val="FFFFFF"/>
                </a:solidFill>
              </a:rPr>
              <a:t>Evening slot + temp/rain
score + sports event flag
Exclude rush hours and
delivery-dependent windows</a:t>
            </a:r>
            <a:endParaRPr sz="1200" b="0" i="0">
              <a:solidFill>
                <a:srgbClr val="FFFFFF"/>
              </a:solidFill>
            </a:endParaRPr>
          </a:p>
        </p:txBody>
      </p:sp>
      <p:sp>
        <p:nvSpPr>
          <p:cNvPr id="35" name="TextBox 34"/>
          <p:cNvSpPr txBox="1"/>
          <p:nvPr/>
        </p:nvSpPr>
        <p:spPr>
          <a:xfrm>
            <a:off x="5367528" y="4617720"/>
            <a:ext cx="1444752" cy="645160"/>
          </a:xfrm>
          <a:prstGeom prst="rect">
            <a:avLst/>
          </a:prstGeom>
          <a:noFill/>
        </p:spPr>
        <p:txBody>
          <a:bodyPr wrap="square">
            <a:spAutoFit/>
          </a:bodyPr>
          <a:lstStyle/>
          <a:p>
            <a:pPr algn="l"/>
            <a:r>
              <a:rPr sz="1200" b="0" i="1">
                <a:solidFill>
                  <a:srgbClr val="9CA3AF"/>
                </a:solidFill>
              </a:rPr>
              <a:t>season_score as
multiplication modifier</a:t>
            </a:r>
            <a:endParaRPr sz="1200" b="0" i="1">
              <a:solidFill>
                <a:srgbClr val="9CA3AF"/>
              </a:solidFill>
            </a:endParaRPr>
          </a:p>
        </p:txBody>
      </p:sp>
      <p:sp>
        <p:nvSpPr>
          <p:cNvPr id="36" name="Rectangle 35"/>
          <p:cNvSpPr/>
          <p:nvPr/>
        </p:nvSpPr>
        <p:spPr>
          <a:xfrm>
            <a:off x="6903720" y="1755648"/>
            <a:ext cx="1581912" cy="59436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76872" y="1792224"/>
            <a:ext cx="1490472" cy="530352"/>
          </a:xfrm>
          <a:prstGeom prst="rect">
            <a:avLst/>
          </a:prstGeom>
          <a:noFill/>
        </p:spPr>
        <p:txBody>
          <a:bodyPr wrap="square">
            <a:spAutoFit/>
          </a:bodyPr>
          <a:lstStyle/>
          <a:p>
            <a:pPr algn="l"/>
            <a:r>
              <a:rPr sz="900" b="1" i="0">
                <a:solidFill>
                  <a:srgbClr val="0D0F1A"/>
                </a:solidFill>
              </a:rPr>
              <a:t>Play
Street</a:t>
            </a:r>
            <a:endParaRPr sz="900" b="1" i="0">
              <a:solidFill>
                <a:srgbClr val="0D0F1A"/>
              </a:solidFill>
            </a:endParaRPr>
          </a:p>
        </p:txBody>
      </p:sp>
      <p:sp>
        <p:nvSpPr>
          <p:cNvPr id="38" name="Rectangle 37"/>
          <p:cNvSpPr/>
          <p:nvPr/>
        </p:nvSpPr>
        <p:spPr>
          <a:xfrm>
            <a:off x="690372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903720" y="2350008"/>
            <a:ext cx="45720" cy="4142232"/>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13448" y="2414016"/>
            <a:ext cx="1444752" cy="398780"/>
          </a:xfrm>
          <a:prstGeom prst="rect">
            <a:avLst/>
          </a:prstGeom>
          <a:noFill/>
        </p:spPr>
        <p:txBody>
          <a:bodyPr wrap="square">
            <a:spAutoFit/>
          </a:bodyPr>
          <a:lstStyle/>
          <a:p>
            <a:pPr algn="l"/>
            <a:r>
              <a:rPr sz="1000" b="1" i="0">
                <a:solidFill>
                  <a:srgbClr val="6EE7B7"/>
                </a:solidFill>
              </a:rPr>
              <a:t>Key: child_density
+ traffic_volume</a:t>
            </a:r>
            <a:endParaRPr sz="1000" b="1" i="0">
              <a:solidFill>
                <a:srgbClr val="6EE7B7"/>
              </a:solidFill>
            </a:endParaRPr>
          </a:p>
        </p:txBody>
      </p:sp>
      <p:sp>
        <p:nvSpPr>
          <p:cNvPr id="41" name="TextBox 40"/>
          <p:cNvSpPr txBox="1"/>
          <p:nvPr/>
        </p:nvSpPr>
        <p:spPr>
          <a:xfrm>
            <a:off x="7013448" y="3035808"/>
            <a:ext cx="1444752" cy="1198880"/>
          </a:xfrm>
          <a:prstGeom prst="rect">
            <a:avLst/>
          </a:prstGeom>
          <a:noFill/>
        </p:spPr>
        <p:txBody>
          <a:bodyPr wrap="square">
            <a:spAutoFit/>
          </a:bodyPr>
          <a:lstStyle/>
          <a:p>
            <a:pPr algn="l"/>
            <a:r>
              <a:rPr sz="1200" b="0" i="0">
                <a:solidFill>
                  <a:srgbClr val="FFFFFF"/>
                </a:solidFill>
              </a:rPr>
              <a:t>0-14 yr population density
+ daily vehicle count
Historic Play Streets
approval = strong signal</a:t>
            </a:r>
            <a:endParaRPr sz="1200" b="0" i="0">
              <a:solidFill>
                <a:srgbClr val="FFFFFF"/>
              </a:solidFill>
            </a:endParaRPr>
          </a:p>
        </p:txBody>
      </p:sp>
      <p:sp>
        <p:nvSpPr>
          <p:cNvPr id="42" name="TextBox 41"/>
          <p:cNvSpPr txBox="1"/>
          <p:nvPr/>
        </p:nvSpPr>
        <p:spPr>
          <a:xfrm>
            <a:off x="7013448" y="4617720"/>
            <a:ext cx="1444752" cy="645160"/>
          </a:xfrm>
          <a:prstGeom prst="rect">
            <a:avLst/>
          </a:prstGeom>
          <a:noFill/>
        </p:spPr>
        <p:txBody>
          <a:bodyPr wrap="square">
            <a:spAutoFit/>
          </a:bodyPr>
          <a:lstStyle/>
          <a:p>
            <a:pPr algn="l"/>
            <a:r>
              <a:rPr sz="1200" b="0" i="1">
                <a:solidFill>
                  <a:srgbClr val="9CA3AF"/>
                </a:solidFill>
              </a:rPr>
              <a:t>has_play_street_history
highest weight</a:t>
            </a:r>
            <a:endParaRPr sz="1200" b="0" i="1">
              <a:solidFill>
                <a:srgbClr val="9CA3AF"/>
              </a:solidFill>
            </a:endParaRPr>
          </a:p>
        </p:txBody>
      </p:sp>
      <p:sp>
        <p:nvSpPr>
          <p:cNvPr id="43" name="Rectangle 42"/>
          <p:cNvSpPr/>
          <p:nvPr/>
        </p:nvSpPr>
        <p:spPr>
          <a:xfrm>
            <a:off x="8549640" y="1755648"/>
            <a:ext cx="1581912" cy="594360"/>
          </a:xfrm>
          <a:prstGeom prst="rect">
            <a:avLst/>
          </a:prstGeom>
          <a:solidFill>
            <a:srgbClr val="FB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22792" y="1792224"/>
            <a:ext cx="1490472" cy="530352"/>
          </a:xfrm>
          <a:prstGeom prst="rect">
            <a:avLst/>
          </a:prstGeom>
          <a:noFill/>
        </p:spPr>
        <p:txBody>
          <a:bodyPr wrap="square">
            <a:spAutoFit/>
          </a:bodyPr>
          <a:lstStyle/>
          <a:p>
            <a:pPr algn="l"/>
            <a:r>
              <a:rPr sz="900" b="1" i="0">
                <a:solidFill>
                  <a:srgbClr val="0D0F1A"/>
                </a:solidFill>
              </a:rPr>
              <a:t>Event
Spillover</a:t>
            </a:r>
            <a:endParaRPr sz="900" b="1" i="0">
              <a:solidFill>
                <a:srgbClr val="0D0F1A"/>
              </a:solidFill>
            </a:endParaRPr>
          </a:p>
        </p:txBody>
      </p:sp>
      <p:sp>
        <p:nvSpPr>
          <p:cNvPr id="45" name="Rectangle 44"/>
          <p:cNvSpPr/>
          <p:nvPr/>
        </p:nvSpPr>
        <p:spPr>
          <a:xfrm>
            <a:off x="854964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549640" y="2350008"/>
            <a:ext cx="45720" cy="4142232"/>
          </a:xfrm>
          <a:prstGeom prst="rect">
            <a:avLst/>
          </a:prstGeom>
          <a:solidFill>
            <a:srgbClr val="FB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59367" y="2414016"/>
            <a:ext cx="1444752" cy="398780"/>
          </a:xfrm>
          <a:prstGeom prst="rect">
            <a:avLst/>
          </a:prstGeom>
          <a:noFill/>
        </p:spPr>
        <p:txBody>
          <a:bodyPr wrap="square">
            <a:spAutoFit/>
          </a:bodyPr>
          <a:lstStyle/>
          <a:p>
            <a:pPr algn="l"/>
            <a:r>
              <a:rPr sz="1000" b="1" i="0">
                <a:solidFill>
                  <a:srgbClr val="FB923A"/>
                </a:solidFill>
              </a:rPr>
              <a:t>Key: crowd_size
+ venue_distance</a:t>
            </a:r>
            <a:endParaRPr sz="1000" b="1" i="0">
              <a:solidFill>
                <a:srgbClr val="FB923A"/>
              </a:solidFill>
            </a:endParaRPr>
          </a:p>
        </p:txBody>
      </p:sp>
      <p:sp>
        <p:nvSpPr>
          <p:cNvPr id="48" name="TextBox 47"/>
          <p:cNvSpPr txBox="1"/>
          <p:nvPr/>
        </p:nvSpPr>
        <p:spPr>
          <a:xfrm>
            <a:off x="8659367" y="3035808"/>
            <a:ext cx="1444752" cy="1198880"/>
          </a:xfrm>
          <a:prstGeom prst="rect">
            <a:avLst/>
          </a:prstGeom>
          <a:noFill/>
        </p:spPr>
        <p:txBody>
          <a:bodyPr wrap="square">
            <a:spAutoFit/>
          </a:bodyPr>
          <a:lstStyle/>
          <a:p>
            <a:pPr algn="l"/>
            <a:r>
              <a:rPr sz="1200" b="0" i="0">
                <a:solidFill>
                  <a:srgbClr val="FFFFFF"/>
                </a:solidFill>
              </a:rPr>
              <a:t>Venue capacity x attendance
+ distance to venue
Arterial conflict check
before model entry</a:t>
            </a:r>
            <a:endParaRPr sz="1200" b="0" i="0">
              <a:solidFill>
                <a:srgbClr val="FFFFFF"/>
              </a:solidFill>
            </a:endParaRPr>
          </a:p>
        </p:txBody>
      </p:sp>
      <p:sp>
        <p:nvSpPr>
          <p:cNvPr id="49" name="TextBox 48"/>
          <p:cNvSpPr txBox="1"/>
          <p:nvPr/>
        </p:nvSpPr>
        <p:spPr>
          <a:xfrm>
            <a:off x="8659367" y="4617720"/>
            <a:ext cx="1444752" cy="460375"/>
          </a:xfrm>
          <a:prstGeom prst="rect">
            <a:avLst/>
          </a:prstGeom>
          <a:noFill/>
        </p:spPr>
        <p:txBody>
          <a:bodyPr wrap="square">
            <a:spAutoFit/>
          </a:bodyPr>
          <a:lstStyle/>
          <a:p>
            <a:pPr algn="l"/>
            <a:r>
              <a:rPr sz="1200" b="0" i="1">
                <a:solidFill>
                  <a:srgbClr val="9CA3AF"/>
                </a:solidFill>
              </a:rPr>
              <a:t>arterial_conflict
hard veto</a:t>
            </a:r>
            <a:endParaRPr sz="1200" b="0" i="1">
              <a:solidFill>
                <a:srgbClr val="9CA3AF"/>
              </a:solidFill>
            </a:endParaRPr>
          </a:p>
        </p:txBody>
      </p:sp>
      <p:sp>
        <p:nvSpPr>
          <p:cNvPr id="50" name="Rectangle 49"/>
          <p:cNvSpPr/>
          <p:nvPr/>
        </p:nvSpPr>
        <p:spPr>
          <a:xfrm>
            <a:off x="10195560" y="1755648"/>
            <a:ext cx="1581912" cy="5943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68712" y="1792224"/>
            <a:ext cx="1490472" cy="530352"/>
          </a:xfrm>
          <a:prstGeom prst="rect">
            <a:avLst/>
          </a:prstGeom>
          <a:noFill/>
        </p:spPr>
        <p:txBody>
          <a:bodyPr wrap="square">
            <a:spAutoFit/>
          </a:bodyPr>
          <a:lstStyle/>
          <a:p>
            <a:pPr algn="l"/>
            <a:r>
              <a:rPr sz="900" b="1" i="0">
                <a:solidFill>
                  <a:srgbClr val="0D0F1A"/>
                </a:solidFill>
              </a:rPr>
              <a:t>Transit
Zone</a:t>
            </a:r>
            <a:endParaRPr sz="900" b="1" i="0">
              <a:solidFill>
                <a:srgbClr val="0D0F1A"/>
              </a:solidFill>
            </a:endParaRPr>
          </a:p>
        </p:txBody>
      </p:sp>
      <p:sp>
        <p:nvSpPr>
          <p:cNvPr id="52" name="Rectangle 51"/>
          <p:cNvSpPr/>
          <p:nvPr/>
        </p:nvSpPr>
        <p:spPr>
          <a:xfrm>
            <a:off x="1019556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195560" y="2350008"/>
            <a:ext cx="45720" cy="41422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305288" y="2414016"/>
            <a:ext cx="1444752" cy="398780"/>
          </a:xfrm>
          <a:prstGeom prst="rect">
            <a:avLst/>
          </a:prstGeom>
          <a:noFill/>
        </p:spPr>
        <p:txBody>
          <a:bodyPr wrap="square">
            <a:spAutoFit/>
          </a:bodyPr>
          <a:lstStyle/>
          <a:p>
            <a:pPr algn="l"/>
            <a:r>
              <a:rPr sz="1000" b="1" i="0">
                <a:solidFill>
                  <a:srgbClr val="38BDF8"/>
                </a:solidFill>
              </a:rPr>
              <a:t>Key: transit_freq
+ pedestrian_overflow</a:t>
            </a:r>
            <a:endParaRPr sz="1000" b="1" i="0">
              <a:solidFill>
                <a:srgbClr val="38BDF8"/>
              </a:solidFill>
            </a:endParaRPr>
          </a:p>
        </p:txBody>
      </p:sp>
      <p:sp>
        <p:nvSpPr>
          <p:cNvPr id="55" name="TextBox 54"/>
          <p:cNvSpPr txBox="1"/>
          <p:nvPr/>
        </p:nvSpPr>
        <p:spPr>
          <a:xfrm>
            <a:off x="10305288" y="3035808"/>
            <a:ext cx="1444752" cy="1383665"/>
          </a:xfrm>
          <a:prstGeom prst="rect">
            <a:avLst/>
          </a:prstGeom>
          <a:noFill/>
        </p:spPr>
        <p:txBody>
          <a:bodyPr wrap="square">
            <a:spAutoFit/>
          </a:bodyPr>
          <a:lstStyle/>
          <a:p>
            <a:pPr algn="l"/>
            <a:r>
              <a:rPr sz="1200" b="0" i="0">
                <a:solidFill>
                  <a:srgbClr val="FFFFFF"/>
                </a:solidFill>
              </a:rPr>
              <a:t>30th St Station example:
Amtrak + SEPTA transfer density
Rush hour = hard veto
before model entry</a:t>
            </a:r>
            <a:endParaRPr sz="1200" b="0" i="0">
              <a:solidFill>
                <a:srgbClr val="FFFFFF"/>
              </a:solidFill>
            </a:endParaRPr>
          </a:p>
        </p:txBody>
      </p:sp>
      <p:sp>
        <p:nvSpPr>
          <p:cNvPr id="56" name="TextBox 55"/>
          <p:cNvSpPr txBox="1"/>
          <p:nvPr/>
        </p:nvSpPr>
        <p:spPr>
          <a:xfrm>
            <a:off x="10305288" y="4617720"/>
            <a:ext cx="1444752" cy="645160"/>
          </a:xfrm>
          <a:prstGeom prst="rect">
            <a:avLst/>
          </a:prstGeom>
          <a:noFill/>
        </p:spPr>
        <p:txBody>
          <a:bodyPr wrap="square">
            <a:spAutoFit/>
          </a:bodyPr>
          <a:lstStyle/>
          <a:p>
            <a:pPr algn="l"/>
            <a:r>
              <a:rPr sz="1200" b="0" i="1">
                <a:solidFill>
                  <a:srgbClr val="9CA3AF"/>
                </a:solidFill>
              </a:rPr>
              <a:t>bus_route_dependency
as hard constraint</a:t>
            </a:r>
            <a:endParaRPr sz="1200" b="0" i="1">
              <a:solidFill>
                <a:srgbClr val="9CA3AF"/>
              </a:solidFill>
            </a:endParaRPr>
          </a:p>
        </p:txBody>
      </p:sp>
      <p:sp>
        <p:nvSpPr>
          <p:cNvPr id="57" name="Rectangle 56"/>
          <p:cNvSpPr/>
          <p:nvPr/>
        </p:nvSpPr>
        <p:spPr>
          <a:xfrm>
            <a:off x="320040" y="5742432"/>
            <a:ext cx="11521440" cy="749808"/>
          </a:xfrm>
          <a:prstGeom prst="rect">
            <a:avLst/>
          </a:prstGeom>
          <a:solidFill>
            <a:srgbClr val="12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2920" y="5824728"/>
            <a:ext cx="1645920" cy="306705"/>
          </a:xfrm>
          <a:prstGeom prst="rect">
            <a:avLst/>
          </a:prstGeom>
          <a:noFill/>
        </p:spPr>
        <p:txBody>
          <a:bodyPr wrap="square">
            <a:spAutoFit/>
          </a:bodyPr>
          <a:lstStyle/>
          <a:p>
            <a:pPr algn="l"/>
            <a:r>
              <a:rPr sz="1400" b="1" i="0">
                <a:solidFill>
                  <a:srgbClr val="FFFFFF"/>
                </a:solidFill>
              </a:rPr>
              <a:t>Shared mechanism:</a:t>
            </a:r>
            <a:endParaRPr sz="1400" b="1" i="0">
              <a:solidFill>
                <a:srgbClr val="FFFFFF"/>
              </a:solidFill>
            </a:endParaRPr>
          </a:p>
        </p:txBody>
      </p:sp>
      <p:sp>
        <p:nvSpPr>
          <p:cNvPr id="59" name="TextBox 58"/>
          <p:cNvSpPr txBox="1"/>
          <p:nvPr/>
        </p:nvSpPr>
        <p:spPr>
          <a:xfrm>
            <a:off x="2194560" y="5824728"/>
            <a:ext cx="9509760" cy="460375"/>
          </a:xfrm>
          <a:prstGeom prst="rect">
            <a:avLst/>
          </a:prstGeom>
          <a:noFill/>
        </p:spPr>
        <p:txBody>
          <a:bodyPr wrap="square">
            <a:spAutoFit/>
          </a:bodyPr>
          <a:lstStyle/>
          <a:p>
            <a:pPr algn="l"/>
            <a:r>
              <a:rPr sz="1200" b="0" i="0">
                <a:solidFill>
                  <a:srgbClr val="9CA3AF"/>
                </a:solidFill>
              </a:rPr>
              <a:t>All 7 scenarios share the same feature schema (temporal / activity / safety / community). Differences lie in per-scenario feature weights. Hard constraints (emergency routes, peak hours) are filtered before model entry.</a:t>
            </a:r>
            <a:endParaRPr sz="1200" b="0" i="0">
              <a:solidFill>
                <a:srgbClr val="9CA3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F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7120" y="6492240"/>
            <a:ext cx="822960" cy="320040"/>
          </a:xfrm>
          <a:prstGeom prst="rect">
            <a:avLst/>
          </a:prstGeom>
          <a:noFill/>
        </p:spPr>
        <p:txBody>
          <a:bodyPr wrap="square">
            <a:spAutoFit/>
          </a:bodyPr>
          <a:lstStyle/>
          <a:p>
            <a:pPr algn="r"/>
            <a:r>
              <a:rPr sz="1000" b="0" i="0">
                <a:solidFill>
                  <a:srgbClr val="9CA3AF"/>
                </a:solidFill>
              </a:rPr>
              <a:t>3 / 5</a:t>
            </a:r>
            <a:endParaRPr sz="1000" b="0" i="0">
              <a:solidFill>
                <a:srgbClr val="9CA3AF"/>
              </a:solidFill>
            </a:endParaRPr>
          </a:p>
        </p:txBody>
      </p:sp>
      <p:sp>
        <p:nvSpPr>
          <p:cNvPr id="4" name="Rectangle 3"/>
          <p:cNvSpPr/>
          <p:nvPr/>
        </p:nvSpPr>
        <p:spPr>
          <a:xfrm>
            <a:off x="457200" y="201168"/>
            <a:ext cx="2377440" cy="347472"/>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219456"/>
            <a:ext cx="2286000" cy="301752"/>
          </a:xfrm>
          <a:prstGeom prst="rect">
            <a:avLst/>
          </a:prstGeom>
          <a:noFill/>
        </p:spPr>
        <p:txBody>
          <a:bodyPr wrap="square">
            <a:spAutoFit/>
          </a:bodyPr>
          <a:lstStyle/>
          <a:p>
            <a:pPr algn="l"/>
            <a:r>
              <a:rPr sz="1100" b="1" i="0">
                <a:solidFill>
                  <a:srgbClr val="0D0F1A"/>
                </a:solidFill>
              </a:rPr>
              <a:t>XGBOOST TRAINING LOGIC</a:t>
            </a:r>
            <a:endParaRPr sz="1100" b="1" i="0">
              <a:solidFill>
                <a:srgbClr val="0D0F1A"/>
              </a:solidFill>
            </a:endParaRPr>
          </a:p>
        </p:txBody>
      </p:sp>
      <p:sp>
        <p:nvSpPr>
          <p:cNvPr id="6" name="TextBox 5"/>
          <p:cNvSpPr txBox="1"/>
          <p:nvPr/>
        </p:nvSpPr>
        <p:spPr>
          <a:xfrm>
            <a:off x="502920" y="685800"/>
            <a:ext cx="10972800" cy="594360"/>
          </a:xfrm>
          <a:prstGeom prst="rect">
            <a:avLst/>
          </a:prstGeom>
          <a:noFill/>
        </p:spPr>
        <p:txBody>
          <a:bodyPr wrap="square">
            <a:spAutoFit/>
          </a:bodyPr>
          <a:lstStyle/>
          <a:p>
            <a:pPr algn="l"/>
            <a:r>
              <a:rPr sz="3400" b="1" i="0">
                <a:solidFill>
                  <a:srgbClr val="FFFFFF"/>
                </a:solidFill>
              </a:rPr>
              <a:t>How XGBoost Learns — The Boosting Chain</a:t>
            </a:r>
            <a:endParaRPr sz="3400" b="1" i="0">
              <a:solidFill>
                <a:srgbClr val="FFFFFF"/>
              </a:solidFill>
            </a:endParaRPr>
          </a:p>
        </p:txBody>
      </p:sp>
      <p:sp>
        <p:nvSpPr>
          <p:cNvPr id="7" name="TextBox 6"/>
          <p:cNvSpPr txBox="1"/>
          <p:nvPr/>
        </p:nvSpPr>
        <p:spPr>
          <a:xfrm>
            <a:off x="502920" y="1325880"/>
            <a:ext cx="10972800" cy="365760"/>
          </a:xfrm>
          <a:prstGeom prst="rect">
            <a:avLst/>
          </a:prstGeom>
          <a:noFill/>
        </p:spPr>
        <p:txBody>
          <a:bodyPr wrap="square">
            <a:spAutoFit/>
          </a:bodyPr>
          <a:lstStyle/>
          <a:p>
            <a:pPr algn="l"/>
            <a:r>
              <a:rPr sz="1500" b="0" i="0">
                <a:solidFill>
                  <a:srgbClr val="9CA3AF"/>
                </a:solidFill>
              </a:rPr>
              <a:t>Each tree is built to fix what the previous tree got wrong — error shrinks at every step</a:t>
            </a:r>
            <a:endParaRPr sz="1500" b="0" i="0">
              <a:solidFill>
                <a:srgbClr val="9CA3AF"/>
              </a:solidFill>
            </a:endParaRPr>
          </a:p>
        </p:txBody>
      </p:sp>
      <p:sp>
        <p:nvSpPr>
          <p:cNvPr id="8" name="Rectangle 7"/>
          <p:cNvSpPr/>
          <p:nvPr/>
        </p:nvSpPr>
        <p:spPr>
          <a:xfrm>
            <a:off x="320040" y="1783080"/>
            <a:ext cx="11521440" cy="54864"/>
          </a:xfrm>
          <a:prstGeom prst="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901952"/>
            <a:ext cx="5394960" cy="713232"/>
          </a:xfrm>
          <a:prstGeom prst="rect">
            <a:avLst/>
          </a:prstGeom>
          <a:solidFill>
            <a:srgbClr val="143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65960"/>
            <a:ext cx="5120640" cy="320040"/>
          </a:xfrm>
          <a:prstGeom prst="rect">
            <a:avLst/>
          </a:prstGeom>
          <a:noFill/>
        </p:spPr>
        <p:txBody>
          <a:bodyPr wrap="square">
            <a:spAutoFit/>
          </a:bodyPr>
          <a:lstStyle/>
          <a:p>
            <a:pPr algn="l"/>
            <a:r>
              <a:rPr sz="1200" b="1" i="0">
                <a:solidFill>
                  <a:srgbClr val="6EE7B7"/>
                </a:solidFill>
              </a:rPr>
              <a:t>Positive samples  (label = 1  -&gt;  should open)</a:t>
            </a:r>
            <a:endParaRPr sz="1200" b="1" i="0">
              <a:solidFill>
                <a:srgbClr val="6EE7B7"/>
              </a:solidFill>
            </a:endParaRPr>
          </a:p>
        </p:txBody>
      </p:sp>
      <p:sp>
        <p:nvSpPr>
          <p:cNvPr id="11" name="TextBox 10"/>
          <p:cNvSpPr txBox="1"/>
          <p:nvPr/>
        </p:nvSpPr>
        <p:spPr>
          <a:xfrm>
            <a:off x="502920" y="2286000"/>
            <a:ext cx="5120640" cy="274320"/>
          </a:xfrm>
          <a:prstGeom prst="rect">
            <a:avLst/>
          </a:prstGeom>
          <a:noFill/>
        </p:spPr>
        <p:txBody>
          <a:bodyPr wrap="square">
            <a:spAutoFit/>
          </a:bodyPr>
          <a:lstStyle/>
          <a:p>
            <a:pPr algn="l"/>
            <a:r>
              <a:rPr sz="1100" b="0" i="0">
                <a:solidFill>
                  <a:srgbClr val="9CA3AF"/>
                </a:solidFill>
              </a:rPr>
              <a:t>Philadelphia Play Streets Program — officially approved street closures</a:t>
            </a:r>
            <a:endParaRPr sz="1100" b="0" i="0">
              <a:solidFill>
                <a:srgbClr val="9CA3AF"/>
              </a:solidFill>
            </a:endParaRPr>
          </a:p>
        </p:txBody>
      </p:sp>
      <p:sp>
        <p:nvSpPr>
          <p:cNvPr id="12" name="Rectangle 11"/>
          <p:cNvSpPr/>
          <p:nvPr/>
        </p:nvSpPr>
        <p:spPr>
          <a:xfrm>
            <a:off x="6035040" y="1901952"/>
            <a:ext cx="5833872" cy="713232"/>
          </a:xfrm>
          <a:prstGeom prst="rect">
            <a:avLst/>
          </a:prstGeom>
          <a:solidFill>
            <a:srgbClr val="4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2" y="1965960"/>
            <a:ext cx="5532120" cy="320040"/>
          </a:xfrm>
          <a:prstGeom prst="rect">
            <a:avLst/>
          </a:prstGeom>
          <a:noFill/>
        </p:spPr>
        <p:txBody>
          <a:bodyPr wrap="square">
            <a:spAutoFit/>
          </a:bodyPr>
          <a:lstStyle/>
          <a:p>
            <a:pPr algn="l"/>
            <a:r>
              <a:rPr sz="1200" b="1" i="0">
                <a:solidFill>
                  <a:srgbClr val="F87171"/>
                </a:solidFill>
              </a:rPr>
              <a:t>Negative samples  (label = 0  -&gt;  should NOT open)</a:t>
            </a:r>
            <a:endParaRPr sz="1200" b="1" i="0">
              <a:solidFill>
                <a:srgbClr val="F87171"/>
              </a:solidFill>
            </a:endParaRPr>
          </a:p>
        </p:txBody>
      </p:sp>
      <p:sp>
        <p:nvSpPr>
          <p:cNvPr id="14" name="TextBox 13"/>
          <p:cNvSpPr txBox="1"/>
          <p:nvPr/>
        </p:nvSpPr>
        <p:spPr>
          <a:xfrm>
            <a:off x="6199632" y="2286000"/>
            <a:ext cx="5486400" cy="274320"/>
          </a:xfrm>
          <a:prstGeom prst="rect">
            <a:avLst/>
          </a:prstGeom>
          <a:noFill/>
        </p:spPr>
        <p:txBody>
          <a:bodyPr wrap="square">
            <a:spAutoFit/>
          </a:bodyPr>
          <a:lstStyle/>
          <a:p>
            <a:pPr algn="l"/>
            <a:r>
              <a:rPr sz="1100" b="0" i="0">
                <a:solidFill>
                  <a:srgbClr val="9CA3AF"/>
                </a:solidFill>
              </a:rPr>
              <a:t>Vision Zero high-accident corridors  +  peak-hour arterials</a:t>
            </a:r>
            <a:endParaRPr sz="1100" b="0" i="0">
              <a:solidFill>
                <a:srgbClr val="9CA3AF"/>
              </a:solidFill>
            </a:endParaRPr>
          </a:p>
        </p:txBody>
      </p:sp>
      <p:sp>
        <p:nvSpPr>
          <p:cNvPr id="15" name="Rectangle 14"/>
          <p:cNvSpPr/>
          <p:nvPr/>
        </p:nvSpPr>
        <p:spPr>
          <a:xfrm>
            <a:off x="155447" y="2788920"/>
            <a:ext cx="1965960" cy="14173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5447" y="2788920"/>
            <a:ext cx="1965960" cy="640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5175" y="2871216"/>
            <a:ext cx="1764792" cy="384048"/>
          </a:xfrm>
          <a:prstGeom prst="rect">
            <a:avLst/>
          </a:prstGeom>
          <a:noFill/>
        </p:spPr>
        <p:txBody>
          <a:bodyPr wrap="square">
            <a:spAutoFit/>
          </a:bodyPr>
          <a:lstStyle/>
          <a:p>
            <a:pPr algn="l"/>
            <a:r>
              <a:rPr sz="1300" b="1" i="0">
                <a:solidFill>
                  <a:srgbClr val="60A5FA"/>
                </a:solidFill>
              </a:rPr>
              <a:t>Tree 1</a:t>
            </a:r>
            <a:endParaRPr sz="1300" b="1" i="0">
              <a:solidFill>
                <a:srgbClr val="60A5FA"/>
              </a:solidFill>
            </a:endParaRPr>
          </a:p>
        </p:txBody>
      </p:sp>
      <p:sp>
        <p:nvSpPr>
          <p:cNvPr id="18" name="TextBox 17"/>
          <p:cNvSpPr txBox="1"/>
          <p:nvPr/>
        </p:nvSpPr>
        <p:spPr>
          <a:xfrm>
            <a:off x="265175" y="3273552"/>
            <a:ext cx="1764792" cy="502920"/>
          </a:xfrm>
          <a:prstGeom prst="rect">
            <a:avLst/>
          </a:prstGeom>
          <a:noFill/>
        </p:spPr>
        <p:txBody>
          <a:bodyPr wrap="square">
            <a:spAutoFit/>
          </a:bodyPr>
          <a:lstStyle/>
          <a:p>
            <a:pPr algn="l"/>
            <a:r>
              <a:rPr sz="1000" b="0" i="0">
                <a:solidFill>
                  <a:srgbClr val="FFFFFF"/>
                </a:solidFill>
              </a:rPr>
              <a:t>Learns from
raw features</a:t>
            </a:r>
            <a:endParaRPr sz="1000" b="0" i="0">
              <a:solidFill>
                <a:srgbClr val="FFFFFF"/>
              </a:solidFill>
            </a:endParaRPr>
          </a:p>
        </p:txBody>
      </p:sp>
      <p:sp>
        <p:nvSpPr>
          <p:cNvPr id="19" name="TextBox 18"/>
          <p:cNvSpPr txBox="1"/>
          <p:nvPr/>
        </p:nvSpPr>
        <p:spPr>
          <a:xfrm>
            <a:off x="265175" y="3822191"/>
            <a:ext cx="1764792" cy="658368"/>
          </a:xfrm>
          <a:prstGeom prst="rect">
            <a:avLst/>
          </a:prstGeom>
          <a:noFill/>
        </p:spPr>
        <p:txBody>
          <a:bodyPr wrap="square">
            <a:spAutoFit/>
          </a:bodyPr>
          <a:lstStyle/>
          <a:p>
            <a:pPr algn="l"/>
            <a:r>
              <a:rPr sz="900" b="0" i="1">
                <a:solidFill>
                  <a:srgbClr val="9CA3AF"/>
                </a:solidFill>
              </a:rPr>
              <a:t>First pass prediction
Large residual errors remain</a:t>
            </a:r>
            <a:endParaRPr sz="900" b="0" i="1">
              <a:solidFill>
                <a:srgbClr val="9CA3AF"/>
              </a:solidFill>
            </a:endParaRPr>
          </a:p>
        </p:txBody>
      </p:sp>
      <p:sp>
        <p:nvSpPr>
          <p:cNvPr id="20" name="TextBox 19"/>
          <p:cNvSpPr txBox="1"/>
          <p:nvPr/>
        </p:nvSpPr>
        <p:spPr>
          <a:xfrm>
            <a:off x="2157984" y="3291840"/>
            <a:ext cx="320040" cy="384048"/>
          </a:xfrm>
          <a:prstGeom prst="rect">
            <a:avLst/>
          </a:prstGeom>
          <a:noFill/>
        </p:spPr>
        <p:txBody>
          <a:bodyPr wrap="square">
            <a:spAutoFit/>
          </a:bodyPr>
          <a:lstStyle/>
          <a:p>
            <a:pPr algn="ctr"/>
            <a:r>
              <a:rPr sz="2000" b="1" i="0">
                <a:solidFill>
                  <a:srgbClr val="6EE7B7"/>
                </a:solidFill>
              </a:rPr>
              <a:t>-&gt;</a:t>
            </a:r>
            <a:endParaRPr sz="2000" b="1" i="0">
              <a:solidFill>
                <a:srgbClr val="6EE7B7"/>
              </a:solidFill>
            </a:endParaRPr>
          </a:p>
        </p:txBody>
      </p:sp>
      <p:sp>
        <p:nvSpPr>
          <p:cNvPr id="21" name="Rectangle 20"/>
          <p:cNvSpPr/>
          <p:nvPr/>
        </p:nvSpPr>
        <p:spPr>
          <a:xfrm>
            <a:off x="2633472" y="2788920"/>
            <a:ext cx="1965960" cy="1417320"/>
          </a:xfrm>
          <a:prstGeom prst="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633472" y="2788920"/>
            <a:ext cx="1965960" cy="64008"/>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0" y="2871216"/>
            <a:ext cx="1764792" cy="384048"/>
          </a:xfrm>
          <a:prstGeom prst="rect">
            <a:avLst/>
          </a:prstGeom>
          <a:noFill/>
        </p:spPr>
        <p:txBody>
          <a:bodyPr wrap="square">
            <a:spAutoFit/>
          </a:bodyPr>
          <a:lstStyle/>
          <a:p>
            <a:pPr algn="l"/>
            <a:r>
              <a:rPr sz="1300" b="1" i="0">
                <a:solidFill>
                  <a:srgbClr val="9CA3AF"/>
                </a:solidFill>
              </a:rPr>
              <a:t>Residuals</a:t>
            </a:r>
            <a:endParaRPr sz="1300" b="1" i="0">
              <a:solidFill>
                <a:srgbClr val="9CA3AF"/>
              </a:solidFill>
            </a:endParaRPr>
          </a:p>
        </p:txBody>
      </p:sp>
      <p:sp>
        <p:nvSpPr>
          <p:cNvPr id="24" name="TextBox 23"/>
          <p:cNvSpPr txBox="1"/>
          <p:nvPr/>
        </p:nvSpPr>
        <p:spPr>
          <a:xfrm>
            <a:off x="2743200" y="3273552"/>
            <a:ext cx="1764792" cy="502920"/>
          </a:xfrm>
          <a:prstGeom prst="rect">
            <a:avLst/>
          </a:prstGeom>
          <a:noFill/>
        </p:spPr>
        <p:txBody>
          <a:bodyPr wrap="square">
            <a:spAutoFit/>
          </a:bodyPr>
          <a:lstStyle/>
          <a:p>
            <a:pPr algn="l"/>
            <a:r>
              <a:rPr sz="1000" b="0" i="0">
                <a:solidFill>
                  <a:srgbClr val="FFFFFF"/>
                </a:solidFill>
              </a:rPr>
              <a:t>Prediction errors
from Tree 1</a:t>
            </a:r>
            <a:endParaRPr sz="1000" b="0" i="0">
              <a:solidFill>
                <a:srgbClr val="FFFFFF"/>
              </a:solidFill>
            </a:endParaRPr>
          </a:p>
        </p:txBody>
      </p:sp>
      <p:sp>
        <p:nvSpPr>
          <p:cNvPr id="25" name="TextBox 24"/>
          <p:cNvSpPr txBox="1"/>
          <p:nvPr/>
        </p:nvSpPr>
        <p:spPr>
          <a:xfrm>
            <a:off x="2743200" y="3822191"/>
            <a:ext cx="1764792" cy="658368"/>
          </a:xfrm>
          <a:prstGeom prst="rect">
            <a:avLst/>
          </a:prstGeom>
          <a:noFill/>
        </p:spPr>
        <p:txBody>
          <a:bodyPr wrap="square">
            <a:spAutoFit/>
          </a:bodyPr>
          <a:lstStyle/>
          <a:p>
            <a:pPr algn="l"/>
            <a:r>
              <a:rPr sz="900" b="0" i="1">
                <a:solidFill>
                  <a:srgbClr val="9CA3AF"/>
                </a:solidFill>
              </a:rPr>
              <a:t>Which anchors did
Tree 1 get wrong?</a:t>
            </a:r>
            <a:endParaRPr sz="900" b="0" i="1">
              <a:solidFill>
                <a:srgbClr val="9CA3AF"/>
              </a:solidFill>
            </a:endParaRPr>
          </a:p>
        </p:txBody>
      </p:sp>
      <p:sp>
        <p:nvSpPr>
          <p:cNvPr id="26" name="TextBox 25"/>
          <p:cNvSpPr txBox="1"/>
          <p:nvPr/>
        </p:nvSpPr>
        <p:spPr>
          <a:xfrm>
            <a:off x="4636007" y="3291840"/>
            <a:ext cx="320040" cy="384048"/>
          </a:xfrm>
          <a:prstGeom prst="rect">
            <a:avLst/>
          </a:prstGeom>
          <a:noFill/>
        </p:spPr>
        <p:txBody>
          <a:bodyPr wrap="square">
            <a:spAutoFit/>
          </a:bodyPr>
          <a:lstStyle/>
          <a:p>
            <a:pPr algn="ctr"/>
            <a:r>
              <a:rPr sz="2000" b="1" i="0">
                <a:solidFill>
                  <a:srgbClr val="6EE7B7"/>
                </a:solidFill>
              </a:rPr>
              <a:t>-&gt;</a:t>
            </a:r>
            <a:endParaRPr sz="2000" b="1" i="0">
              <a:solidFill>
                <a:srgbClr val="6EE7B7"/>
              </a:solidFill>
            </a:endParaRPr>
          </a:p>
        </p:txBody>
      </p:sp>
      <p:sp>
        <p:nvSpPr>
          <p:cNvPr id="27" name="Rectangle 26"/>
          <p:cNvSpPr/>
          <p:nvPr/>
        </p:nvSpPr>
        <p:spPr>
          <a:xfrm>
            <a:off x="5111496" y="2788920"/>
            <a:ext cx="1965960" cy="14173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1496" y="2788920"/>
            <a:ext cx="1965960" cy="64008"/>
          </a:xfrm>
          <a:prstGeom prst="rect">
            <a:avLst/>
          </a:prstGeom>
          <a:solidFill>
            <a:srgbClr val="348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21224" y="2871216"/>
            <a:ext cx="1764792" cy="384048"/>
          </a:xfrm>
          <a:prstGeom prst="rect">
            <a:avLst/>
          </a:prstGeom>
          <a:noFill/>
        </p:spPr>
        <p:txBody>
          <a:bodyPr wrap="square">
            <a:spAutoFit/>
          </a:bodyPr>
          <a:lstStyle/>
          <a:p>
            <a:pPr algn="l"/>
            <a:r>
              <a:rPr sz="1300" b="1" i="0">
                <a:solidFill>
                  <a:srgbClr val="348CF7"/>
                </a:solidFill>
              </a:rPr>
              <a:t>Tree 2</a:t>
            </a:r>
            <a:endParaRPr sz="1300" b="1" i="0">
              <a:solidFill>
                <a:srgbClr val="348CF7"/>
              </a:solidFill>
            </a:endParaRPr>
          </a:p>
        </p:txBody>
      </p:sp>
      <p:sp>
        <p:nvSpPr>
          <p:cNvPr id="30" name="TextBox 29"/>
          <p:cNvSpPr txBox="1"/>
          <p:nvPr/>
        </p:nvSpPr>
        <p:spPr>
          <a:xfrm>
            <a:off x="5221224" y="3273552"/>
            <a:ext cx="1764792" cy="502920"/>
          </a:xfrm>
          <a:prstGeom prst="rect">
            <a:avLst/>
          </a:prstGeom>
          <a:noFill/>
        </p:spPr>
        <p:txBody>
          <a:bodyPr wrap="square">
            <a:spAutoFit/>
          </a:bodyPr>
          <a:lstStyle/>
          <a:p>
            <a:pPr algn="l"/>
            <a:r>
              <a:rPr sz="1000" b="0" i="0">
                <a:solidFill>
                  <a:srgbClr val="FFFFFF"/>
                </a:solidFill>
              </a:rPr>
              <a:t>Trained on
residuals of Tree 1</a:t>
            </a:r>
            <a:endParaRPr sz="1000" b="0" i="0">
              <a:solidFill>
                <a:srgbClr val="FFFFFF"/>
              </a:solidFill>
            </a:endParaRPr>
          </a:p>
        </p:txBody>
      </p:sp>
      <p:sp>
        <p:nvSpPr>
          <p:cNvPr id="31" name="TextBox 30"/>
          <p:cNvSpPr txBox="1"/>
          <p:nvPr/>
        </p:nvSpPr>
        <p:spPr>
          <a:xfrm>
            <a:off x="5221224" y="3822191"/>
            <a:ext cx="1764792" cy="658368"/>
          </a:xfrm>
          <a:prstGeom prst="rect">
            <a:avLst/>
          </a:prstGeom>
          <a:noFill/>
        </p:spPr>
        <p:txBody>
          <a:bodyPr wrap="square">
            <a:spAutoFit/>
          </a:bodyPr>
          <a:lstStyle/>
          <a:p>
            <a:pPr algn="l"/>
            <a:r>
              <a:rPr sz="900" b="0" i="1">
                <a:solidFill>
                  <a:srgbClr val="9CA3AF"/>
                </a:solidFill>
              </a:rPr>
              <a:t>Focuses on hard cases
Error shrinks</a:t>
            </a:r>
            <a:endParaRPr sz="900" b="0" i="1">
              <a:solidFill>
                <a:srgbClr val="9CA3AF"/>
              </a:solidFill>
            </a:endParaRPr>
          </a:p>
        </p:txBody>
      </p:sp>
      <p:sp>
        <p:nvSpPr>
          <p:cNvPr id="32" name="TextBox 31"/>
          <p:cNvSpPr txBox="1"/>
          <p:nvPr/>
        </p:nvSpPr>
        <p:spPr>
          <a:xfrm>
            <a:off x="7114032" y="3291840"/>
            <a:ext cx="320040" cy="384048"/>
          </a:xfrm>
          <a:prstGeom prst="rect">
            <a:avLst/>
          </a:prstGeom>
          <a:noFill/>
        </p:spPr>
        <p:txBody>
          <a:bodyPr wrap="square">
            <a:spAutoFit/>
          </a:bodyPr>
          <a:lstStyle/>
          <a:p>
            <a:pPr algn="ctr"/>
            <a:r>
              <a:rPr sz="2000" b="1" i="0">
                <a:solidFill>
                  <a:srgbClr val="6EE7B7"/>
                </a:solidFill>
              </a:rPr>
              <a:t>-&gt;</a:t>
            </a:r>
            <a:endParaRPr sz="2000" b="1" i="0">
              <a:solidFill>
                <a:srgbClr val="6EE7B7"/>
              </a:solidFill>
            </a:endParaRPr>
          </a:p>
        </p:txBody>
      </p:sp>
      <p:sp>
        <p:nvSpPr>
          <p:cNvPr id="33" name="Rectangle 32"/>
          <p:cNvSpPr/>
          <p:nvPr/>
        </p:nvSpPr>
        <p:spPr>
          <a:xfrm>
            <a:off x="7589519" y="2788920"/>
            <a:ext cx="1965960" cy="1417320"/>
          </a:xfrm>
          <a:prstGeom prst="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589519" y="2788920"/>
            <a:ext cx="1965960" cy="64008"/>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99247" y="2871216"/>
            <a:ext cx="1764792" cy="384048"/>
          </a:xfrm>
          <a:prstGeom prst="rect">
            <a:avLst/>
          </a:prstGeom>
          <a:noFill/>
        </p:spPr>
        <p:txBody>
          <a:bodyPr wrap="square">
            <a:spAutoFit/>
          </a:bodyPr>
          <a:lstStyle/>
          <a:p>
            <a:pPr algn="l"/>
            <a:r>
              <a:rPr sz="1300" b="1" i="0">
                <a:solidFill>
                  <a:srgbClr val="9CA3AF"/>
                </a:solidFill>
              </a:rPr>
              <a:t>Residuals</a:t>
            </a:r>
            <a:endParaRPr sz="1300" b="1" i="0">
              <a:solidFill>
                <a:srgbClr val="9CA3AF"/>
              </a:solidFill>
            </a:endParaRPr>
          </a:p>
        </p:txBody>
      </p:sp>
      <p:sp>
        <p:nvSpPr>
          <p:cNvPr id="36" name="TextBox 35"/>
          <p:cNvSpPr txBox="1"/>
          <p:nvPr/>
        </p:nvSpPr>
        <p:spPr>
          <a:xfrm>
            <a:off x="7699247" y="3273552"/>
            <a:ext cx="1764792" cy="502920"/>
          </a:xfrm>
          <a:prstGeom prst="rect">
            <a:avLst/>
          </a:prstGeom>
          <a:noFill/>
        </p:spPr>
        <p:txBody>
          <a:bodyPr wrap="square">
            <a:spAutoFit/>
          </a:bodyPr>
          <a:lstStyle/>
          <a:p>
            <a:pPr algn="l"/>
            <a:r>
              <a:rPr sz="1000" b="0" i="0">
                <a:solidFill>
                  <a:srgbClr val="FFFFFF"/>
                </a:solidFill>
              </a:rPr>
              <a:t>Remaining errors
after Tree 2</a:t>
            </a:r>
            <a:endParaRPr sz="1000" b="0" i="0">
              <a:solidFill>
                <a:srgbClr val="FFFFFF"/>
              </a:solidFill>
            </a:endParaRPr>
          </a:p>
        </p:txBody>
      </p:sp>
      <p:sp>
        <p:nvSpPr>
          <p:cNvPr id="37" name="TextBox 36"/>
          <p:cNvSpPr txBox="1"/>
          <p:nvPr/>
        </p:nvSpPr>
        <p:spPr>
          <a:xfrm>
            <a:off x="7699247" y="3822191"/>
            <a:ext cx="1764792" cy="658368"/>
          </a:xfrm>
          <a:prstGeom prst="rect">
            <a:avLst/>
          </a:prstGeom>
          <a:noFill/>
        </p:spPr>
        <p:txBody>
          <a:bodyPr wrap="square">
            <a:spAutoFit/>
          </a:bodyPr>
          <a:lstStyle/>
          <a:p>
            <a:pPr algn="l"/>
            <a:r>
              <a:rPr sz="900" b="0" i="1">
                <a:solidFill>
                  <a:srgbClr val="9CA3AF"/>
                </a:solidFill>
              </a:rPr>
              <a:t>Even smaller residuals
passed forward</a:t>
            </a:r>
            <a:endParaRPr sz="900" b="0" i="1">
              <a:solidFill>
                <a:srgbClr val="9CA3AF"/>
              </a:solidFill>
            </a:endParaRPr>
          </a:p>
        </p:txBody>
      </p:sp>
      <p:sp>
        <p:nvSpPr>
          <p:cNvPr id="38" name="TextBox 37"/>
          <p:cNvSpPr txBox="1"/>
          <p:nvPr/>
        </p:nvSpPr>
        <p:spPr>
          <a:xfrm>
            <a:off x="9592055" y="3291840"/>
            <a:ext cx="320040" cy="384048"/>
          </a:xfrm>
          <a:prstGeom prst="rect">
            <a:avLst/>
          </a:prstGeom>
          <a:noFill/>
        </p:spPr>
        <p:txBody>
          <a:bodyPr wrap="square">
            <a:spAutoFit/>
          </a:bodyPr>
          <a:lstStyle/>
          <a:p>
            <a:pPr algn="ctr"/>
            <a:r>
              <a:rPr sz="2000" b="1" i="0">
                <a:solidFill>
                  <a:srgbClr val="6EE7B7"/>
                </a:solidFill>
              </a:rPr>
              <a:t>-&gt;</a:t>
            </a:r>
            <a:endParaRPr sz="2000" b="1" i="0">
              <a:solidFill>
                <a:srgbClr val="6EE7B7"/>
              </a:solidFill>
            </a:endParaRPr>
          </a:p>
        </p:txBody>
      </p:sp>
      <p:sp>
        <p:nvSpPr>
          <p:cNvPr id="39" name="Rectangle 38"/>
          <p:cNvSpPr/>
          <p:nvPr/>
        </p:nvSpPr>
        <p:spPr>
          <a:xfrm>
            <a:off x="10067544" y="2788920"/>
            <a:ext cx="1965960" cy="14173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067544" y="2788920"/>
            <a:ext cx="1965960"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77272" y="2871216"/>
            <a:ext cx="1764792" cy="384048"/>
          </a:xfrm>
          <a:prstGeom prst="rect">
            <a:avLst/>
          </a:prstGeom>
          <a:noFill/>
        </p:spPr>
        <p:txBody>
          <a:bodyPr wrap="square">
            <a:spAutoFit/>
          </a:bodyPr>
          <a:lstStyle/>
          <a:p>
            <a:pPr algn="l"/>
            <a:r>
              <a:rPr sz="1300" b="1" i="0">
                <a:solidFill>
                  <a:srgbClr val="6EE7B7"/>
                </a:solidFill>
              </a:rPr>
              <a:t>Tree N</a:t>
            </a:r>
            <a:endParaRPr sz="1300" b="1" i="0">
              <a:solidFill>
                <a:srgbClr val="6EE7B7"/>
              </a:solidFill>
            </a:endParaRPr>
          </a:p>
        </p:txBody>
      </p:sp>
      <p:sp>
        <p:nvSpPr>
          <p:cNvPr id="42" name="TextBox 41"/>
          <p:cNvSpPr txBox="1"/>
          <p:nvPr/>
        </p:nvSpPr>
        <p:spPr>
          <a:xfrm>
            <a:off x="10177272" y="3273552"/>
            <a:ext cx="1764792" cy="502920"/>
          </a:xfrm>
          <a:prstGeom prst="rect">
            <a:avLst/>
          </a:prstGeom>
          <a:noFill/>
        </p:spPr>
        <p:txBody>
          <a:bodyPr wrap="square">
            <a:spAutoFit/>
          </a:bodyPr>
          <a:lstStyle/>
          <a:p>
            <a:pPr algn="l"/>
            <a:r>
              <a:rPr sz="1000" b="0" i="0">
                <a:solidFill>
                  <a:srgbClr val="FFFFFF"/>
                </a:solidFill>
              </a:rPr>
              <a:t>...500 trees
later...</a:t>
            </a:r>
            <a:endParaRPr sz="1000" b="0" i="0">
              <a:solidFill>
                <a:srgbClr val="FFFFFF"/>
              </a:solidFill>
            </a:endParaRPr>
          </a:p>
        </p:txBody>
      </p:sp>
      <p:sp>
        <p:nvSpPr>
          <p:cNvPr id="43" name="TextBox 42"/>
          <p:cNvSpPr txBox="1"/>
          <p:nvPr/>
        </p:nvSpPr>
        <p:spPr>
          <a:xfrm>
            <a:off x="10177272" y="3822191"/>
            <a:ext cx="1764792" cy="658368"/>
          </a:xfrm>
          <a:prstGeom prst="rect">
            <a:avLst/>
          </a:prstGeom>
          <a:noFill/>
        </p:spPr>
        <p:txBody>
          <a:bodyPr wrap="square">
            <a:spAutoFit/>
          </a:bodyPr>
          <a:lstStyle/>
          <a:p>
            <a:pPr algn="l"/>
            <a:r>
              <a:rPr sz="900" b="0" i="1">
                <a:solidFill>
                  <a:srgbClr val="9CA3AF"/>
                </a:solidFill>
              </a:rPr>
              <a:t>Cumulative correction
High accuracy achieved</a:t>
            </a:r>
            <a:endParaRPr sz="900" b="0" i="1">
              <a:solidFill>
                <a:srgbClr val="9CA3AF"/>
              </a:solidFill>
            </a:endParaRPr>
          </a:p>
        </p:txBody>
      </p:sp>
      <p:sp>
        <p:nvSpPr>
          <p:cNvPr id="44" name="Rectangle 43"/>
          <p:cNvSpPr/>
          <p:nvPr/>
        </p:nvSpPr>
        <p:spPr>
          <a:xfrm>
            <a:off x="320040" y="4370832"/>
            <a:ext cx="5577840" cy="2212848"/>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040" y="4370832"/>
            <a:ext cx="5577840" cy="6400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4462272"/>
            <a:ext cx="5212080" cy="347472"/>
          </a:xfrm>
          <a:prstGeom prst="rect">
            <a:avLst/>
          </a:prstGeom>
          <a:noFill/>
        </p:spPr>
        <p:txBody>
          <a:bodyPr wrap="square">
            <a:spAutoFit/>
          </a:bodyPr>
          <a:lstStyle/>
          <a:p>
            <a:pPr algn="l"/>
            <a:r>
              <a:rPr sz="1300" b="1" i="0">
                <a:solidFill>
                  <a:srgbClr val="FBBF24"/>
                </a:solidFill>
              </a:rPr>
              <a:t>Loss Curve (conceptual)</a:t>
            </a:r>
            <a:endParaRPr sz="1300" b="1" i="0">
              <a:solidFill>
                <a:srgbClr val="FBBF24"/>
              </a:solidFill>
            </a:endParaRPr>
          </a:p>
        </p:txBody>
      </p:sp>
      <p:sp>
        <p:nvSpPr>
          <p:cNvPr id="47" name="TextBox 46"/>
          <p:cNvSpPr txBox="1"/>
          <p:nvPr/>
        </p:nvSpPr>
        <p:spPr>
          <a:xfrm>
            <a:off x="411480" y="4864608"/>
            <a:ext cx="1188720" cy="1463040"/>
          </a:xfrm>
          <a:prstGeom prst="rect">
            <a:avLst/>
          </a:prstGeom>
          <a:noFill/>
        </p:spPr>
        <p:txBody>
          <a:bodyPr wrap="square">
            <a:spAutoFit/>
          </a:bodyPr>
          <a:lstStyle/>
          <a:p>
            <a:pPr algn="ctr"/>
            <a:r>
              <a:rPr sz="1000" b="0" i="1">
                <a:solidFill>
                  <a:srgbClr val="9CA3AF"/>
                </a:solidFill>
              </a:rPr>
              <a:t>Prediction Error</a:t>
            </a:r>
            <a:endParaRPr sz="1000" b="0" i="1">
              <a:solidFill>
                <a:srgbClr val="9CA3AF"/>
              </a:solidFill>
            </a:endParaRPr>
          </a:p>
        </p:txBody>
      </p:sp>
      <p:sp>
        <p:nvSpPr>
          <p:cNvPr id="48" name="Rectangle 47"/>
          <p:cNvSpPr/>
          <p:nvPr/>
        </p:nvSpPr>
        <p:spPr>
          <a:xfrm>
            <a:off x="1691640" y="4828032"/>
            <a:ext cx="438912" cy="123444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40280" y="5148072"/>
            <a:ext cx="438912" cy="914400"/>
          </a:xfrm>
          <a:prstGeom prst="rect">
            <a:avLst/>
          </a:prstGeom>
          <a:solidFill>
            <a:srgbClr val="F99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788920" y="5404104"/>
            <a:ext cx="438912" cy="65836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337560" y="5586984"/>
            <a:ext cx="438912" cy="475488"/>
          </a:xfrm>
          <a:prstGeom prst="rect">
            <a:avLst/>
          </a:prstGeom>
          <a:solidFill>
            <a:srgbClr val="A3E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886200" y="5715000"/>
            <a:ext cx="438912" cy="347472"/>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4840" y="5806440"/>
            <a:ext cx="438912" cy="25603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983479" y="5861304"/>
            <a:ext cx="438912" cy="20116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72768" y="6144768"/>
            <a:ext cx="4023360" cy="320040"/>
          </a:xfrm>
          <a:prstGeom prst="rect">
            <a:avLst/>
          </a:prstGeom>
          <a:noFill/>
        </p:spPr>
        <p:txBody>
          <a:bodyPr wrap="square">
            <a:spAutoFit/>
          </a:bodyPr>
          <a:lstStyle/>
          <a:p>
            <a:pPr algn="l"/>
            <a:r>
              <a:rPr sz="900" b="0" i="1">
                <a:solidFill>
                  <a:srgbClr val="9CA3AF"/>
                </a:solidFill>
              </a:rPr>
              <a:t>Tree 1   Tree 2   Tree 3   ...   Tree N</a:t>
            </a:r>
            <a:endParaRPr sz="900" b="0" i="1">
              <a:solidFill>
                <a:srgbClr val="9CA3AF"/>
              </a:solidFill>
            </a:endParaRPr>
          </a:p>
        </p:txBody>
      </p:sp>
      <p:sp>
        <p:nvSpPr>
          <p:cNvPr id="56" name="Rectangle 55"/>
          <p:cNvSpPr/>
          <p:nvPr/>
        </p:nvSpPr>
        <p:spPr>
          <a:xfrm>
            <a:off x="6035040" y="4370832"/>
            <a:ext cx="5833872" cy="2212848"/>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035040" y="4370832"/>
            <a:ext cx="5833872" cy="6400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99632" y="4462272"/>
            <a:ext cx="5577840" cy="347472"/>
          </a:xfrm>
          <a:prstGeom prst="rect">
            <a:avLst/>
          </a:prstGeom>
          <a:noFill/>
        </p:spPr>
        <p:txBody>
          <a:bodyPr wrap="square">
            <a:spAutoFit/>
          </a:bodyPr>
          <a:lstStyle/>
          <a:p>
            <a:pPr algn="l"/>
            <a:r>
              <a:rPr sz="1300" b="1" i="0">
                <a:solidFill>
                  <a:srgbClr val="A78BFA"/>
                </a:solidFill>
              </a:rPr>
              <a:t>Feature Importance (School Dismissal example)</a:t>
            </a:r>
            <a:endParaRPr sz="1300" b="1" i="0">
              <a:solidFill>
                <a:srgbClr val="A78BFA"/>
              </a:solidFill>
            </a:endParaRPr>
          </a:p>
        </p:txBody>
      </p:sp>
      <p:sp>
        <p:nvSpPr>
          <p:cNvPr id="59" name="TextBox 58"/>
          <p:cNvSpPr txBox="1"/>
          <p:nvPr/>
        </p:nvSpPr>
        <p:spPr>
          <a:xfrm>
            <a:off x="6199632" y="4919472"/>
            <a:ext cx="1920240" cy="256032"/>
          </a:xfrm>
          <a:prstGeom prst="rect">
            <a:avLst/>
          </a:prstGeom>
          <a:noFill/>
        </p:spPr>
        <p:txBody>
          <a:bodyPr wrap="square">
            <a:spAutoFit/>
          </a:bodyPr>
          <a:lstStyle/>
          <a:p>
            <a:pPr algn="l"/>
            <a:r>
              <a:rPr sz="900" b="0" i="0">
                <a:solidFill>
                  <a:srgbClr val="9CA3AF"/>
                </a:solidFill>
              </a:rPr>
              <a:t>time_match_score</a:t>
            </a:r>
            <a:endParaRPr sz="900" b="0" i="0">
              <a:solidFill>
                <a:srgbClr val="9CA3AF"/>
              </a:solidFill>
            </a:endParaRPr>
          </a:p>
        </p:txBody>
      </p:sp>
      <p:sp>
        <p:nvSpPr>
          <p:cNvPr id="60" name="Rectangle 59"/>
          <p:cNvSpPr/>
          <p:nvPr/>
        </p:nvSpPr>
        <p:spPr>
          <a:xfrm>
            <a:off x="8183879" y="4956048"/>
            <a:ext cx="4425696" cy="18288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2637008" y="4919472"/>
            <a:ext cx="502920" cy="256032"/>
          </a:xfrm>
          <a:prstGeom prst="rect">
            <a:avLst/>
          </a:prstGeom>
          <a:noFill/>
        </p:spPr>
        <p:txBody>
          <a:bodyPr wrap="square">
            <a:spAutoFit/>
          </a:bodyPr>
          <a:lstStyle/>
          <a:p>
            <a:pPr algn="l"/>
            <a:r>
              <a:rPr sz="900" b="0" i="0">
                <a:solidFill>
                  <a:srgbClr val="FFFFFF"/>
                </a:solidFill>
              </a:rPr>
              <a:t>88%</a:t>
            </a:r>
            <a:endParaRPr sz="900" b="0" i="0">
              <a:solidFill>
                <a:srgbClr val="FFFFFF"/>
              </a:solidFill>
            </a:endParaRPr>
          </a:p>
        </p:txBody>
      </p:sp>
      <p:sp>
        <p:nvSpPr>
          <p:cNvPr id="62" name="TextBox 61"/>
          <p:cNvSpPr txBox="1"/>
          <p:nvPr/>
        </p:nvSpPr>
        <p:spPr>
          <a:xfrm>
            <a:off x="6199632" y="5221224"/>
            <a:ext cx="1920240" cy="256032"/>
          </a:xfrm>
          <a:prstGeom prst="rect">
            <a:avLst/>
          </a:prstGeom>
          <a:noFill/>
        </p:spPr>
        <p:txBody>
          <a:bodyPr wrap="square">
            <a:spAutoFit/>
          </a:bodyPr>
          <a:lstStyle/>
          <a:p>
            <a:pPr algn="l"/>
            <a:r>
              <a:rPr sz="900" b="0" i="0">
                <a:solidFill>
                  <a:srgbClr val="9CA3AF"/>
                </a:solidFill>
              </a:rPr>
              <a:t>pedestrian_density</a:t>
            </a:r>
            <a:endParaRPr sz="900" b="0" i="0">
              <a:solidFill>
                <a:srgbClr val="9CA3AF"/>
              </a:solidFill>
            </a:endParaRPr>
          </a:p>
        </p:txBody>
      </p:sp>
      <p:sp>
        <p:nvSpPr>
          <p:cNvPr id="63" name="Rectangle 62"/>
          <p:cNvSpPr/>
          <p:nvPr/>
        </p:nvSpPr>
        <p:spPr>
          <a:xfrm>
            <a:off x="8183879" y="5257800"/>
            <a:ext cx="3621024" cy="18288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832336" y="5221224"/>
            <a:ext cx="502920" cy="256032"/>
          </a:xfrm>
          <a:prstGeom prst="rect">
            <a:avLst/>
          </a:prstGeom>
          <a:noFill/>
        </p:spPr>
        <p:txBody>
          <a:bodyPr wrap="square">
            <a:spAutoFit/>
          </a:bodyPr>
          <a:lstStyle/>
          <a:p>
            <a:pPr algn="l"/>
            <a:r>
              <a:rPr sz="900" b="0" i="0">
                <a:solidFill>
                  <a:srgbClr val="FFFFFF"/>
                </a:solidFill>
              </a:rPr>
              <a:t>72%</a:t>
            </a:r>
            <a:endParaRPr sz="900" b="0" i="0">
              <a:solidFill>
                <a:srgbClr val="FFFFFF"/>
              </a:solidFill>
            </a:endParaRPr>
          </a:p>
        </p:txBody>
      </p:sp>
      <p:sp>
        <p:nvSpPr>
          <p:cNvPr id="65" name="TextBox 64"/>
          <p:cNvSpPr txBox="1"/>
          <p:nvPr/>
        </p:nvSpPr>
        <p:spPr>
          <a:xfrm>
            <a:off x="6199632" y="5522976"/>
            <a:ext cx="1920240" cy="256032"/>
          </a:xfrm>
          <a:prstGeom prst="rect">
            <a:avLst/>
          </a:prstGeom>
          <a:noFill/>
        </p:spPr>
        <p:txBody>
          <a:bodyPr wrap="square">
            <a:spAutoFit/>
          </a:bodyPr>
          <a:lstStyle/>
          <a:p>
            <a:pPr algn="l"/>
            <a:r>
              <a:rPr sz="900" b="0" i="0">
                <a:solidFill>
                  <a:srgbClr val="9CA3AF"/>
                </a:solidFill>
              </a:rPr>
              <a:t>child_density</a:t>
            </a:r>
            <a:endParaRPr sz="900" b="0" i="0">
              <a:solidFill>
                <a:srgbClr val="9CA3AF"/>
              </a:solidFill>
            </a:endParaRPr>
          </a:p>
        </p:txBody>
      </p:sp>
      <p:sp>
        <p:nvSpPr>
          <p:cNvPr id="66" name="Rectangle 65"/>
          <p:cNvSpPr/>
          <p:nvPr/>
        </p:nvSpPr>
        <p:spPr>
          <a:xfrm>
            <a:off x="8183879" y="5559552"/>
            <a:ext cx="3067812" cy="1828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279124" y="5522976"/>
            <a:ext cx="502920" cy="256032"/>
          </a:xfrm>
          <a:prstGeom prst="rect">
            <a:avLst/>
          </a:prstGeom>
          <a:noFill/>
        </p:spPr>
        <p:txBody>
          <a:bodyPr wrap="square">
            <a:spAutoFit/>
          </a:bodyPr>
          <a:lstStyle/>
          <a:p>
            <a:pPr algn="l"/>
            <a:r>
              <a:rPr sz="900" b="0" i="0">
                <a:solidFill>
                  <a:srgbClr val="FFFFFF"/>
                </a:solidFill>
              </a:rPr>
              <a:t>61%</a:t>
            </a:r>
            <a:endParaRPr sz="900" b="0" i="0">
              <a:solidFill>
                <a:srgbClr val="FFFFFF"/>
              </a:solidFill>
            </a:endParaRPr>
          </a:p>
        </p:txBody>
      </p:sp>
      <p:sp>
        <p:nvSpPr>
          <p:cNvPr id="68" name="TextBox 67"/>
          <p:cNvSpPr txBox="1"/>
          <p:nvPr/>
        </p:nvSpPr>
        <p:spPr>
          <a:xfrm>
            <a:off x="6199632" y="5824728"/>
            <a:ext cx="1920240" cy="256032"/>
          </a:xfrm>
          <a:prstGeom prst="rect">
            <a:avLst/>
          </a:prstGeom>
          <a:noFill/>
        </p:spPr>
        <p:txBody>
          <a:bodyPr wrap="square">
            <a:spAutoFit/>
          </a:bodyPr>
          <a:lstStyle/>
          <a:p>
            <a:pPr algn="l"/>
            <a:r>
              <a:rPr sz="900" b="0" i="0">
                <a:solidFill>
                  <a:srgbClr val="9CA3AF"/>
                </a:solidFill>
              </a:rPr>
              <a:t>accident_count</a:t>
            </a:r>
            <a:endParaRPr sz="900" b="0" i="0">
              <a:solidFill>
                <a:srgbClr val="9CA3AF"/>
              </a:solidFill>
            </a:endParaRPr>
          </a:p>
        </p:txBody>
      </p:sp>
      <p:sp>
        <p:nvSpPr>
          <p:cNvPr id="69" name="Rectangle 68"/>
          <p:cNvSpPr/>
          <p:nvPr/>
        </p:nvSpPr>
        <p:spPr>
          <a:xfrm>
            <a:off x="8183879" y="5861304"/>
            <a:ext cx="2263140"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474452" y="5824728"/>
            <a:ext cx="502920" cy="256032"/>
          </a:xfrm>
          <a:prstGeom prst="rect">
            <a:avLst/>
          </a:prstGeom>
          <a:noFill/>
        </p:spPr>
        <p:txBody>
          <a:bodyPr wrap="square">
            <a:spAutoFit/>
          </a:bodyPr>
          <a:lstStyle/>
          <a:p>
            <a:pPr algn="l"/>
            <a:r>
              <a:rPr sz="900" b="0" i="0">
                <a:solidFill>
                  <a:srgbClr val="FFFFFF"/>
                </a:solidFill>
              </a:rPr>
              <a:t>45%</a:t>
            </a:r>
            <a:endParaRPr sz="900" b="0" i="0">
              <a:solidFill>
                <a:srgbClr val="FFFFFF"/>
              </a:solidFill>
            </a:endParaRPr>
          </a:p>
        </p:txBody>
      </p:sp>
      <p:sp>
        <p:nvSpPr>
          <p:cNvPr id="71" name="TextBox 70"/>
          <p:cNvSpPr txBox="1"/>
          <p:nvPr/>
        </p:nvSpPr>
        <p:spPr>
          <a:xfrm>
            <a:off x="6199632" y="6126480"/>
            <a:ext cx="1920240" cy="256032"/>
          </a:xfrm>
          <a:prstGeom prst="rect">
            <a:avLst/>
          </a:prstGeom>
          <a:noFill/>
        </p:spPr>
        <p:txBody>
          <a:bodyPr wrap="square">
            <a:spAutoFit/>
          </a:bodyPr>
          <a:lstStyle/>
          <a:p>
            <a:pPr algn="l"/>
            <a:r>
              <a:rPr sz="900" b="0" i="0">
                <a:solidFill>
                  <a:srgbClr val="9CA3AF"/>
                </a:solidFill>
              </a:rPr>
              <a:t>has_bus_route</a:t>
            </a:r>
            <a:endParaRPr sz="900" b="0" i="0">
              <a:solidFill>
                <a:srgbClr val="9CA3AF"/>
              </a:solidFill>
            </a:endParaRPr>
          </a:p>
        </p:txBody>
      </p:sp>
      <p:sp>
        <p:nvSpPr>
          <p:cNvPr id="72" name="Rectangle 71"/>
          <p:cNvSpPr/>
          <p:nvPr/>
        </p:nvSpPr>
        <p:spPr>
          <a:xfrm>
            <a:off x="8183879" y="6163056"/>
            <a:ext cx="1911095"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122408" y="6126480"/>
            <a:ext cx="502920" cy="256032"/>
          </a:xfrm>
          <a:prstGeom prst="rect">
            <a:avLst/>
          </a:prstGeom>
          <a:noFill/>
        </p:spPr>
        <p:txBody>
          <a:bodyPr wrap="square">
            <a:spAutoFit/>
          </a:bodyPr>
          <a:lstStyle/>
          <a:p>
            <a:pPr algn="l"/>
            <a:r>
              <a:rPr sz="900" b="0" i="0">
                <a:solidFill>
                  <a:srgbClr val="FFFFFF"/>
                </a:solidFill>
              </a:rPr>
              <a:t>38%</a:t>
            </a:r>
            <a:endParaRPr sz="900" b="0" i="0">
              <a:solidFill>
                <a:srgbClr val="FFFFFF"/>
              </a:solidFill>
            </a:endParaRPr>
          </a:p>
        </p:txBody>
      </p:sp>
      <p:sp>
        <p:nvSpPr>
          <p:cNvPr id="74" name="TextBox 73"/>
          <p:cNvSpPr txBox="1"/>
          <p:nvPr/>
        </p:nvSpPr>
        <p:spPr>
          <a:xfrm>
            <a:off x="6199632" y="6428232"/>
            <a:ext cx="1920240" cy="256032"/>
          </a:xfrm>
          <a:prstGeom prst="rect">
            <a:avLst/>
          </a:prstGeom>
          <a:noFill/>
        </p:spPr>
        <p:txBody>
          <a:bodyPr wrap="square">
            <a:spAutoFit/>
          </a:bodyPr>
          <a:lstStyle/>
          <a:p>
            <a:pPr algn="l"/>
            <a:r>
              <a:rPr sz="900" b="0" i="0">
                <a:solidFill>
                  <a:srgbClr val="9CA3AF"/>
                </a:solidFill>
              </a:rPr>
              <a:t>car_pickup_pressure</a:t>
            </a:r>
            <a:endParaRPr sz="900" b="0" i="0">
              <a:solidFill>
                <a:srgbClr val="9CA3AF"/>
              </a:solidFill>
            </a:endParaRPr>
          </a:p>
        </p:txBody>
      </p:sp>
      <p:sp>
        <p:nvSpPr>
          <p:cNvPr id="75" name="Rectangle 74"/>
          <p:cNvSpPr/>
          <p:nvPr/>
        </p:nvSpPr>
        <p:spPr>
          <a:xfrm>
            <a:off x="8183879" y="6464808"/>
            <a:ext cx="1257300" cy="1828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68612" y="6428232"/>
            <a:ext cx="502920" cy="256032"/>
          </a:xfrm>
          <a:prstGeom prst="rect">
            <a:avLst/>
          </a:prstGeom>
          <a:noFill/>
        </p:spPr>
        <p:txBody>
          <a:bodyPr wrap="square">
            <a:spAutoFit/>
          </a:bodyPr>
          <a:lstStyle/>
          <a:p>
            <a:pPr algn="l"/>
            <a:r>
              <a:rPr sz="900" b="0" i="0">
                <a:solidFill>
                  <a:srgbClr val="FFFFFF"/>
                </a:solidFill>
              </a:rPr>
              <a:t>25%</a:t>
            </a:r>
            <a:endParaRPr sz="900" b="0" i="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F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7120" y="6492240"/>
            <a:ext cx="822960" cy="320040"/>
          </a:xfrm>
          <a:prstGeom prst="rect">
            <a:avLst/>
          </a:prstGeom>
          <a:noFill/>
        </p:spPr>
        <p:txBody>
          <a:bodyPr wrap="square">
            <a:spAutoFit/>
          </a:bodyPr>
          <a:lstStyle/>
          <a:p>
            <a:pPr algn="r"/>
            <a:r>
              <a:rPr sz="1000" b="0" i="0">
                <a:solidFill>
                  <a:srgbClr val="9CA3AF"/>
                </a:solidFill>
              </a:rPr>
              <a:t>4 / 5</a:t>
            </a:r>
            <a:endParaRPr sz="1000" b="0" i="0">
              <a:solidFill>
                <a:srgbClr val="9CA3AF"/>
              </a:solidFill>
            </a:endParaRPr>
          </a:p>
        </p:txBody>
      </p:sp>
      <p:sp>
        <p:nvSpPr>
          <p:cNvPr id="4" name="Rectangle 3"/>
          <p:cNvSpPr/>
          <p:nvPr/>
        </p:nvSpPr>
        <p:spPr>
          <a:xfrm>
            <a:off x="457200" y="201168"/>
            <a:ext cx="2377440" cy="347472"/>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219456"/>
            <a:ext cx="2286000" cy="301752"/>
          </a:xfrm>
          <a:prstGeom prst="rect">
            <a:avLst/>
          </a:prstGeom>
          <a:noFill/>
        </p:spPr>
        <p:txBody>
          <a:bodyPr wrap="square">
            <a:spAutoFit/>
          </a:bodyPr>
          <a:lstStyle/>
          <a:p>
            <a:pPr algn="l"/>
            <a:r>
              <a:rPr sz="1100" b="1" i="0">
                <a:solidFill>
                  <a:srgbClr val="0D0F1A"/>
                </a:solidFill>
              </a:rPr>
              <a:t>MODEL PIPELINE</a:t>
            </a:r>
            <a:endParaRPr sz="1100" b="1" i="0">
              <a:solidFill>
                <a:srgbClr val="0D0F1A"/>
              </a:solidFill>
            </a:endParaRPr>
          </a:p>
        </p:txBody>
      </p:sp>
      <p:sp>
        <p:nvSpPr>
          <p:cNvPr id="6" name="TextBox 5"/>
          <p:cNvSpPr txBox="1"/>
          <p:nvPr/>
        </p:nvSpPr>
        <p:spPr>
          <a:xfrm>
            <a:off x="502920" y="685800"/>
            <a:ext cx="10972800" cy="594360"/>
          </a:xfrm>
          <a:prstGeom prst="rect">
            <a:avLst/>
          </a:prstGeom>
          <a:noFill/>
        </p:spPr>
        <p:txBody>
          <a:bodyPr wrap="square">
            <a:spAutoFit/>
          </a:bodyPr>
          <a:lstStyle/>
          <a:p>
            <a:pPr algn="l"/>
            <a:r>
              <a:rPr sz="3400" b="1" i="0">
                <a:solidFill>
                  <a:srgbClr val="FFFFFF"/>
                </a:solidFill>
              </a:rPr>
              <a:t>End-to-End Model Pipeline</a:t>
            </a:r>
            <a:endParaRPr sz="3400" b="1" i="0">
              <a:solidFill>
                <a:srgbClr val="FFFFFF"/>
              </a:solidFill>
            </a:endParaRPr>
          </a:p>
        </p:txBody>
      </p:sp>
      <p:sp>
        <p:nvSpPr>
          <p:cNvPr id="7" name="TextBox 6"/>
          <p:cNvSpPr txBox="1"/>
          <p:nvPr/>
        </p:nvSpPr>
        <p:spPr>
          <a:xfrm>
            <a:off x="502920" y="1325880"/>
            <a:ext cx="9144000" cy="365760"/>
          </a:xfrm>
          <a:prstGeom prst="rect">
            <a:avLst/>
          </a:prstGeom>
          <a:noFill/>
        </p:spPr>
        <p:txBody>
          <a:bodyPr wrap="square">
            <a:spAutoFit/>
          </a:bodyPr>
          <a:lstStyle/>
          <a:p>
            <a:pPr algn="l"/>
            <a:r>
              <a:rPr sz="1500" b="0" i="0">
                <a:solidFill>
                  <a:srgbClr val="9CA3AF"/>
                </a:solidFill>
              </a:rPr>
              <a:t>From raw open data to a street-opening decision — four steps</a:t>
            </a:r>
            <a:endParaRPr sz="1500" b="0" i="0">
              <a:solidFill>
                <a:srgbClr val="9CA3AF"/>
              </a:solidFill>
            </a:endParaRPr>
          </a:p>
        </p:txBody>
      </p:sp>
      <p:sp>
        <p:nvSpPr>
          <p:cNvPr id="8" name="Rectangle 7"/>
          <p:cNvSpPr/>
          <p:nvPr/>
        </p:nvSpPr>
        <p:spPr>
          <a:xfrm>
            <a:off x="320040" y="1755648"/>
            <a:ext cx="2834640" cy="9144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801368"/>
            <a:ext cx="2606040" cy="804672"/>
          </a:xfrm>
          <a:prstGeom prst="rect">
            <a:avLst/>
          </a:prstGeom>
          <a:noFill/>
        </p:spPr>
        <p:txBody>
          <a:bodyPr wrap="square">
            <a:spAutoFit/>
          </a:bodyPr>
          <a:lstStyle/>
          <a:p>
            <a:pPr algn="ctr"/>
            <a:r>
              <a:rPr sz="1700" b="1" i="0">
                <a:solidFill>
                  <a:srgbClr val="0D0F1A"/>
                </a:solidFill>
              </a:rPr>
              <a:t>Step 1
Data Ingestion</a:t>
            </a:r>
            <a:endParaRPr sz="1700" b="1" i="0">
              <a:solidFill>
                <a:srgbClr val="0D0F1A"/>
              </a:solidFill>
            </a:endParaRPr>
          </a:p>
        </p:txBody>
      </p:sp>
      <p:sp>
        <p:nvSpPr>
          <p:cNvPr id="10" name="Rectangle 9"/>
          <p:cNvSpPr/>
          <p:nvPr/>
        </p:nvSpPr>
        <p:spPr>
          <a:xfrm>
            <a:off x="320040" y="2697480"/>
            <a:ext cx="2834640" cy="32461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697480"/>
            <a:ext cx="54864" cy="324612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 y="2788920"/>
            <a:ext cx="2606040" cy="1198880"/>
          </a:xfrm>
          <a:prstGeom prst="rect">
            <a:avLst/>
          </a:prstGeom>
          <a:noFill/>
        </p:spPr>
        <p:txBody>
          <a:bodyPr wrap="square">
            <a:spAutoFit/>
          </a:bodyPr>
          <a:lstStyle/>
          <a:p>
            <a:pPr algn="l"/>
            <a:r>
              <a:rPr sz="1200" b="0" i="0">
                <a:solidFill>
                  <a:srgbClr val="FFFFFF"/>
                </a:solidFill>
              </a:rPr>
              <a:t>OpenDataPhilly
SEPTA GTFS
ACS Census
OpenStreetMap
Vision Zero
OpenWeather API</a:t>
            </a:r>
            <a:endParaRPr sz="1200" b="0" i="0">
              <a:solidFill>
                <a:srgbClr val="FFFFFF"/>
              </a:solidFill>
            </a:endParaRPr>
          </a:p>
        </p:txBody>
      </p:sp>
      <p:sp>
        <p:nvSpPr>
          <p:cNvPr id="13" name="Rectangle 12"/>
          <p:cNvSpPr/>
          <p:nvPr/>
        </p:nvSpPr>
        <p:spPr>
          <a:xfrm>
            <a:off x="320040" y="5971032"/>
            <a:ext cx="2834640" cy="658368"/>
          </a:xfrm>
          <a:prstGeom prst="rect">
            <a:avLst/>
          </a:prstGeom>
          <a:solidFill>
            <a:srgbClr val="10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2606040" cy="566928"/>
          </a:xfrm>
          <a:prstGeom prst="rect">
            <a:avLst/>
          </a:prstGeom>
          <a:noFill/>
        </p:spPr>
        <p:txBody>
          <a:bodyPr wrap="square">
            <a:spAutoFit/>
          </a:bodyPr>
          <a:lstStyle/>
          <a:p>
            <a:pPr algn="l"/>
            <a:r>
              <a:rPr sz="1000" b="0" i="1">
                <a:solidFill>
                  <a:srgbClr val="60A5FA"/>
                </a:solidFill>
              </a:rPr>
              <a:t>6 public databases
Spatial join to
each anchor point</a:t>
            </a:r>
            <a:endParaRPr sz="1000" b="0" i="1">
              <a:solidFill>
                <a:srgbClr val="60A5FA"/>
              </a:solidFill>
            </a:endParaRPr>
          </a:p>
        </p:txBody>
      </p:sp>
      <p:sp>
        <p:nvSpPr>
          <p:cNvPr id="15" name="TextBox 14"/>
          <p:cNvSpPr txBox="1"/>
          <p:nvPr/>
        </p:nvSpPr>
        <p:spPr>
          <a:xfrm>
            <a:off x="3200400" y="3657600"/>
            <a:ext cx="292608" cy="411480"/>
          </a:xfrm>
          <a:prstGeom prst="rect">
            <a:avLst/>
          </a:prstGeom>
          <a:noFill/>
        </p:spPr>
        <p:txBody>
          <a:bodyPr wrap="square">
            <a:spAutoFit/>
          </a:bodyPr>
          <a:lstStyle/>
          <a:p>
            <a:pPr algn="ctr"/>
            <a:r>
              <a:rPr sz="2200" b="1" i="0">
                <a:solidFill>
                  <a:srgbClr val="6EE7B7"/>
                </a:solidFill>
              </a:rPr>
              <a:t>-&gt;</a:t>
            </a:r>
            <a:endParaRPr sz="2200" b="1" i="0">
              <a:solidFill>
                <a:srgbClr val="6EE7B7"/>
              </a:solidFill>
            </a:endParaRPr>
          </a:p>
        </p:txBody>
      </p:sp>
      <p:sp>
        <p:nvSpPr>
          <p:cNvPr id="16" name="Rectangle 15"/>
          <p:cNvSpPr/>
          <p:nvPr/>
        </p:nvSpPr>
        <p:spPr>
          <a:xfrm>
            <a:off x="3291840" y="1755648"/>
            <a:ext cx="2834640" cy="9144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9000" y="1801368"/>
            <a:ext cx="2606040" cy="804672"/>
          </a:xfrm>
          <a:prstGeom prst="rect">
            <a:avLst/>
          </a:prstGeom>
          <a:noFill/>
        </p:spPr>
        <p:txBody>
          <a:bodyPr wrap="square">
            <a:spAutoFit/>
          </a:bodyPr>
          <a:lstStyle/>
          <a:p>
            <a:pPr algn="ctr"/>
            <a:r>
              <a:rPr sz="1700" b="1" i="0">
                <a:solidFill>
                  <a:srgbClr val="0D0F1A"/>
                </a:solidFill>
              </a:rPr>
              <a:t>Step 2
Feature Engineering</a:t>
            </a:r>
            <a:endParaRPr sz="1700" b="1" i="0">
              <a:solidFill>
                <a:srgbClr val="0D0F1A"/>
              </a:solidFill>
            </a:endParaRPr>
          </a:p>
        </p:txBody>
      </p:sp>
      <p:sp>
        <p:nvSpPr>
          <p:cNvPr id="18" name="Rectangle 17"/>
          <p:cNvSpPr/>
          <p:nvPr/>
        </p:nvSpPr>
        <p:spPr>
          <a:xfrm>
            <a:off x="3291840" y="2697480"/>
            <a:ext cx="2834640" cy="32461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2697480"/>
            <a:ext cx="54864" cy="32461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56432" y="2788920"/>
            <a:ext cx="2606040" cy="2676525"/>
          </a:xfrm>
          <a:prstGeom prst="rect">
            <a:avLst/>
          </a:prstGeom>
          <a:noFill/>
        </p:spPr>
        <p:txBody>
          <a:bodyPr wrap="square">
            <a:spAutoFit/>
          </a:bodyPr>
          <a:lstStyle/>
          <a:p>
            <a:pPr algn="l"/>
            <a:r>
              <a:rPr sz="1200" b="0" i="0">
                <a:solidFill>
                  <a:srgbClr val="FFFFFF"/>
                </a:solidFill>
              </a:rPr>
              <a:t>Temporal
  time_match_score
  is_rush_hour
Activity
  pedestrian_density
  restaurant_density
Safety
  accident_count  lts_score
Community
  child_density
  is_food_desert</a:t>
            </a:r>
            <a:endParaRPr sz="1200" b="0" i="0">
              <a:solidFill>
                <a:srgbClr val="FFFFFF"/>
              </a:solidFill>
            </a:endParaRPr>
          </a:p>
        </p:txBody>
      </p:sp>
      <p:sp>
        <p:nvSpPr>
          <p:cNvPr id="21" name="Rectangle 20"/>
          <p:cNvSpPr/>
          <p:nvPr/>
        </p:nvSpPr>
        <p:spPr>
          <a:xfrm>
            <a:off x="3291840" y="5971032"/>
            <a:ext cx="2834640" cy="658368"/>
          </a:xfrm>
          <a:prstGeom prst="rect">
            <a:avLst/>
          </a:prstGeom>
          <a:solidFill>
            <a:srgbClr val="10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9000" y="6016752"/>
            <a:ext cx="2606040" cy="566928"/>
          </a:xfrm>
          <a:prstGeom prst="rect">
            <a:avLst/>
          </a:prstGeom>
          <a:noFill/>
        </p:spPr>
        <p:txBody>
          <a:bodyPr wrap="square">
            <a:spAutoFit/>
          </a:bodyPr>
          <a:lstStyle/>
          <a:p>
            <a:pPr algn="l"/>
            <a:r>
              <a:rPr sz="1000" b="0" i="1">
                <a:solidFill>
                  <a:srgbClr val="FBBF24"/>
                </a:solidFill>
              </a:rPr>
              <a:t>Each anchor becomes
a numeric feature vector
Hard constraints filtered
before model entry</a:t>
            </a:r>
            <a:endParaRPr sz="1000" b="0" i="1">
              <a:solidFill>
                <a:srgbClr val="FBBF24"/>
              </a:solidFill>
            </a:endParaRPr>
          </a:p>
        </p:txBody>
      </p:sp>
      <p:sp>
        <p:nvSpPr>
          <p:cNvPr id="23" name="TextBox 22"/>
          <p:cNvSpPr txBox="1"/>
          <p:nvPr/>
        </p:nvSpPr>
        <p:spPr>
          <a:xfrm>
            <a:off x="6172200" y="3657600"/>
            <a:ext cx="292608" cy="411480"/>
          </a:xfrm>
          <a:prstGeom prst="rect">
            <a:avLst/>
          </a:prstGeom>
          <a:noFill/>
        </p:spPr>
        <p:txBody>
          <a:bodyPr wrap="square">
            <a:spAutoFit/>
          </a:bodyPr>
          <a:lstStyle/>
          <a:p>
            <a:pPr algn="ctr"/>
            <a:r>
              <a:rPr sz="2200" b="1" i="0">
                <a:solidFill>
                  <a:srgbClr val="6EE7B7"/>
                </a:solidFill>
              </a:rPr>
              <a:t>-&gt;</a:t>
            </a:r>
            <a:endParaRPr sz="2200" b="1" i="0">
              <a:solidFill>
                <a:srgbClr val="6EE7B7"/>
              </a:solidFill>
            </a:endParaRPr>
          </a:p>
        </p:txBody>
      </p:sp>
      <p:sp>
        <p:nvSpPr>
          <p:cNvPr id="24" name="Rectangle 23"/>
          <p:cNvSpPr/>
          <p:nvPr/>
        </p:nvSpPr>
        <p:spPr>
          <a:xfrm>
            <a:off x="6263640" y="1755648"/>
            <a:ext cx="2834640" cy="91440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1801368"/>
            <a:ext cx="2606040" cy="804672"/>
          </a:xfrm>
          <a:prstGeom prst="rect">
            <a:avLst/>
          </a:prstGeom>
          <a:noFill/>
        </p:spPr>
        <p:txBody>
          <a:bodyPr wrap="square">
            <a:spAutoFit/>
          </a:bodyPr>
          <a:lstStyle/>
          <a:p>
            <a:pPr algn="ctr"/>
            <a:r>
              <a:rPr sz="1700" b="1" i="0">
                <a:solidFill>
                  <a:srgbClr val="0D0F1A"/>
                </a:solidFill>
              </a:rPr>
              <a:t>Step 3
XGBoost Training</a:t>
            </a:r>
            <a:endParaRPr sz="1700" b="1" i="0">
              <a:solidFill>
                <a:srgbClr val="0D0F1A"/>
              </a:solidFill>
            </a:endParaRPr>
          </a:p>
        </p:txBody>
      </p:sp>
      <p:sp>
        <p:nvSpPr>
          <p:cNvPr id="26" name="Rectangle 25"/>
          <p:cNvSpPr/>
          <p:nvPr/>
        </p:nvSpPr>
        <p:spPr>
          <a:xfrm>
            <a:off x="6263640" y="2697480"/>
            <a:ext cx="2834640" cy="32461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2697480"/>
            <a:ext cx="54864" cy="324612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1" y="2788920"/>
            <a:ext cx="2606040" cy="2306955"/>
          </a:xfrm>
          <a:prstGeom prst="rect">
            <a:avLst/>
          </a:prstGeom>
          <a:noFill/>
        </p:spPr>
        <p:txBody>
          <a:bodyPr wrap="square">
            <a:spAutoFit/>
          </a:bodyPr>
          <a:lstStyle/>
          <a:p>
            <a:pPr algn="l"/>
            <a:r>
              <a:rPr sz="1200" b="0" i="0">
                <a:solidFill>
                  <a:srgbClr val="FFFFFF"/>
                </a:solidFill>
              </a:rPr>
              <a:t>Positive labels
  Play Streets approvals
Negative labels
  Vision Zero + peak
  hour arterials
7 independent models
  one per scenario
Gradient boosting
  ~500 trees each</a:t>
            </a:r>
            <a:endParaRPr sz="1200" b="0" i="0">
              <a:solidFill>
                <a:srgbClr val="FFFFFF"/>
              </a:solidFill>
            </a:endParaRPr>
          </a:p>
        </p:txBody>
      </p:sp>
      <p:sp>
        <p:nvSpPr>
          <p:cNvPr id="29" name="Rectangle 28"/>
          <p:cNvSpPr/>
          <p:nvPr/>
        </p:nvSpPr>
        <p:spPr>
          <a:xfrm>
            <a:off x="6263640" y="5971032"/>
            <a:ext cx="2834640" cy="658368"/>
          </a:xfrm>
          <a:prstGeom prst="rect">
            <a:avLst/>
          </a:prstGeom>
          <a:solidFill>
            <a:srgbClr val="10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6016752"/>
            <a:ext cx="2606040" cy="566928"/>
          </a:xfrm>
          <a:prstGeom prst="rect">
            <a:avLst/>
          </a:prstGeom>
          <a:noFill/>
        </p:spPr>
        <p:txBody>
          <a:bodyPr wrap="square">
            <a:spAutoFit/>
          </a:bodyPr>
          <a:lstStyle/>
          <a:p>
            <a:pPr algn="l"/>
            <a:r>
              <a:rPr sz="1000" b="0" i="1">
                <a:solidFill>
                  <a:srgbClr val="6EE7B7"/>
                </a:solidFill>
              </a:rPr>
              <a:t>Error corrected
iteration by iteration
Outputs FSI score 0-100</a:t>
            </a:r>
            <a:endParaRPr sz="1000" b="0" i="1">
              <a:solidFill>
                <a:srgbClr val="6EE7B7"/>
              </a:solidFill>
            </a:endParaRPr>
          </a:p>
        </p:txBody>
      </p:sp>
      <p:sp>
        <p:nvSpPr>
          <p:cNvPr id="31" name="TextBox 30"/>
          <p:cNvSpPr txBox="1"/>
          <p:nvPr/>
        </p:nvSpPr>
        <p:spPr>
          <a:xfrm>
            <a:off x="9144000" y="3657600"/>
            <a:ext cx="292608" cy="411480"/>
          </a:xfrm>
          <a:prstGeom prst="rect">
            <a:avLst/>
          </a:prstGeom>
          <a:noFill/>
        </p:spPr>
        <p:txBody>
          <a:bodyPr wrap="square">
            <a:spAutoFit/>
          </a:bodyPr>
          <a:lstStyle/>
          <a:p>
            <a:pPr algn="ctr"/>
            <a:r>
              <a:rPr sz="2200" b="1" i="0">
                <a:solidFill>
                  <a:srgbClr val="6EE7B7"/>
                </a:solidFill>
              </a:rPr>
              <a:t>-&gt;</a:t>
            </a:r>
            <a:endParaRPr sz="2200" b="1" i="0">
              <a:solidFill>
                <a:srgbClr val="6EE7B7"/>
              </a:solidFill>
            </a:endParaRPr>
          </a:p>
        </p:txBody>
      </p:sp>
      <p:sp>
        <p:nvSpPr>
          <p:cNvPr id="32" name="Rectangle 31"/>
          <p:cNvSpPr/>
          <p:nvPr/>
        </p:nvSpPr>
        <p:spPr>
          <a:xfrm>
            <a:off x="9235440" y="1755648"/>
            <a:ext cx="2834640" cy="9144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72600" y="1801368"/>
            <a:ext cx="2606040" cy="804672"/>
          </a:xfrm>
          <a:prstGeom prst="rect">
            <a:avLst/>
          </a:prstGeom>
          <a:noFill/>
        </p:spPr>
        <p:txBody>
          <a:bodyPr wrap="square">
            <a:spAutoFit/>
          </a:bodyPr>
          <a:lstStyle/>
          <a:p>
            <a:pPr algn="ctr"/>
            <a:r>
              <a:rPr sz="1700" b="1" i="0">
                <a:solidFill>
                  <a:srgbClr val="0D0F1A"/>
                </a:solidFill>
              </a:rPr>
              <a:t>Step 4
Result Output</a:t>
            </a:r>
            <a:endParaRPr sz="1700" b="1" i="0">
              <a:solidFill>
                <a:srgbClr val="0D0F1A"/>
              </a:solidFill>
            </a:endParaRPr>
          </a:p>
        </p:txBody>
      </p:sp>
      <p:sp>
        <p:nvSpPr>
          <p:cNvPr id="34" name="Rectangle 33"/>
          <p:cNvSpPr/>
          <p:nvPr/>
        </p:nvSpPr>
        <p:spPr>
          <a:xfrm>
            <a:off x="9235440" y="2697480"/>
            <a:ext cx="2834640" cy="32461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35440" y="2697480"/>
            <a:ext cx="54864" cy="32461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00032" y="2788920"/>
            <a:ext cx="2606040" cy="1568450"/>
          </a:xfrm>
          <a:prstGeom prst="rect">
            <a:avLst/>
          </a:prstGeom>
          <a:noFill/>
        </p:spPr>
        <p:txBody>
          <a:bodyPr wrap="square">
            <a:spAutoFit/>
          </a:bodyPr>
          <a:lstStyle/>
          <a:p>
            <a:pPr algn="l"/>
            <a:r>
              <a:rPr sz="1200" b="0" i="0">
                <a:solidFill>
                  <a:srgbClr val="FFFFFF"/>
                </a:solidFill>
              </a:rPr>
              <a:t>FSI Score  0 - 100
Recommendation
  Open          70-100
  Conditional   40-69
  Not advised    0-39
SHAP factor breakdown</a:t>
            </a:r>
            <a:endParaRPr sz="1200" b="0" i="0">
              <a:solidFill>
                <a:srgbClr val="FFFFFF"/>
              </a:solidFill>
            </a:endParaRPr>
          </a:p>
        </p:txBody>
      </p:sp>
      <p:sp>
        <p:nvSpPr>
          <p:cNvPr id="37" name="Rectangle 36"/>
          <p:cNvSpPr/>
          <p:nvPr/>
        </p:nvSpPr>
        <p:spPr>
          <a:xfrm>
            <a:off x="9235440" y="5971032"/>
            <a:ext cx="2834640" cy="658368"/>
          </a:xfrm>
          <a:prstGeom prst="rect">
            <a:avLst/>
          </a:prstGeom>
          <a:solidFill>
            <a:srgbClr val="10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72600" y="6016752"/>
            <a:ext cx="2606040" cy="566928"/>
          </a:xfrm>
          <a:prstGeom prst="rect">
            <a:avLst/>
          </a:prstGeom>
          <a:noFill/>
        </p:spPr>
        <p:txBody>
          <a:bodyPr wrap="square">
            <a:spAutoFit/>
          </a:bodyPr>
          <a:lstStyle/>
          <a:p>
            <a:pPr algn="l"/>
            <a:r>
              <a:rPr sz="1000" b="0" i="1">
                <a:solidFill>
                  <a:srgbClr val="F87171"/>
                </a:solidFill>
              </a:rPr>
              <a:t>Written to Supabase
Displayed in frontend
AnchorDetailPanel</a:t>
            </a:r>
            <a:endParaRPr sz="1000" b="0" i="1">
              <a:solidFill>
                <a:srgbClr val="F87171"/>
              </a:solidFill>
            </a:endParaRPr>
          </a:p>
        </p:txBody>
      </p:sp>
      <p:sp>
        <p:nvSpPr>
          <p:cNvPr id="39" name="TextBox 38"/>
          <p:cNvSpPr txBox="1"/>
          <p:nvPr/>
        </p:nvSpPr>
        <p:spPr>
          <a:xfrm>
            <a:off x="502920" y="6583680"/>
            <a:ext cx="11430000" cy="256032"/>
          </a:xfrm>
          <a:prstGeom prst="rect">
            <a:avLst/>
          </a:prstGeom>
          <a:noFill/>
        </p:spPr>
        <p:txBody>
          <a:bodyPr wrap="square">
            <a:spAutoFit/>
          </a:bodyPr>
          <a:lstStyle/>
          <a:p>
            <a:pPr algn="l"/>
            <a:r>
              <a:rPr sz="1000" b="0" i="1">
                <a:solidFill>
                  <a:srgbClr val="9CA3AF"/>
                </a:solidFill>
              </a:rPr>
              <a:t>* Hard constraints (emergency routes / rush-hour arterials) are filtered at Step 2 before entering the model</a:t>
            </a:r>
            <a:endParaRPr sz="1000" b="0" i="1">
              <a:solidFill>
                <a:srgbClr val="9CA3A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F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7120" y="6492240"/>
            <a:ext cx="822960" cy="320040"/>
          </a:xfrm>
          <a:prstGeom prst="rect">
            <a:avLst/>
          </a:prstGeom>
          <a:noFill/>
        </p:spPr>
        <p:txBody>
          <a:bodyPr wrap="square">
            <a:spAutoFit/>
          </a:bodyPr>
          <a:lstStyle/>
          <a:p>
            <a:pPr algn="r"/>
            <a:r>
              <a:rPr sz="1000" b="0" i="0">
                <a:solidFill>
                  <a:srgbClr val="9CA3AF"/>
                </a:solidFill>
              </a:rPr>
              <a:t>5 / 5</a:t>
            </a:r>
            <a:endParaRPr sz="1000" b="0" i="0">
              <a:solidFill>
                <a:srgbClr val="9CA3AF"/>
              </a:solidFill>
            </a:endParaRPr>
          </a:p>
        </p:txBody>
      </p:sp>
      <p:sp>
        <p:nvSpPr>
          <p:cNvPr id="4" name="Rectangle 3"/>
          <p:cNvSpPr/>
          <p:nvPr/>
        </p:nvSpPr>
        <p:spPr>
          <a:xfrm>
            <a:off x="457200" y="201168"/>
            <a:ext cx="2377440" cy="34747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219456"/>
            <a:ext cx="2286000" cy="301752"/>
          </a:xfrm>
          <a:prstGeom prst="rect">
            <a:avLst/>
          </a:prstGeom>
          <a:noFill/>
        </p:spPr>
        <p:txBody>
          <a:bodyPr wrap="square">
            <a:spAutoFit/>
          </a:bodyPr>
          <a:lstStyle/>
          <a:p>
            <a:pPr algn="l"/>
            <a:r>
              <a:rPr sz="1100" b="1" i="0">
                <a:solidFill>
                  <a:srgbClr val="0D0F1A"/>
                </a:solidFill>
              </a:rPr>
              <a:t>FRONTEND OUTPUT</a:t>
            </a:r>
            <a:endParaRPr sz="1100" b="1" i="0">
              <a:solidFill>
                <a:srgbClr val="0D0F1A"/>
              </a:solidFill>
            </a:endParaRPr>
          </a:p>
        </p:txBody>
      </p:sp>
      <p:sp>
        <p:nvSpPr>
          <p:cNvPr id="6" name="TextBox 5"/>
          <p:cNvSpPr txBox="1"/>
          <p:nvPr/>
        </p:nvSpPr>
        <p:spPr>
          <a:xfrm>
            <a:off x="502920" y="685800"/>
            <a:ext cx="10972800" cy="594360"/>
          </a:xfrm>
          <a:prstGeom prst="rect">
            <a:avLst/>
          </a:prstGeom>
          <a:noFill/>
        </p:spPr>
        <p:txBody>
          <a:bodyPr wrap="square">
            <a:spAutoFit/>
          </a:bodyPr>
          <a:lstStyle/>
          <a:p>
            <a:pPr algn="l"/>
            <a:r>
              <a:rPr sz="3600" b="1" i="0">
                <a:solidFill>
                  <a:srgbClr val="FFFFFF"/>
                </a:solidFill>
              </a:rPr>
              <a:t>Frontend Output</a:t>
            </a:r>
            <a:endParaRPr sz="3600" b="1" i="0">
              <a:solidFill>
                <a:srgbClr val="FFFFFF"/>
              </a:solidFill>
            </a:endParaRPr>
          </a:p>
        </p:txBody>
      </p:sp>
      <p:sp>
        <p:nvSpPr>
          <p:cNvPr id="7" name="TextBox 6"/>
          <p:cNvSpPr txBox="1"/>
          <p:nvPr/>
        </p:nvSpPr>
        <p:spPr>
          <a:xfrm>
            <a:off x="502920" y="1325880"/>
            <a:ext cx="10972800" cy="365760"/>
          </a:xfrm>
          <a:prstGeom prst="rect">
            <a:avLst/>
          </a:prstGeom>
          <a:noFill/>
        </p:spPr>
        <p:txBody>
          <a:bodyPr wrap="square">
            <a:spAutoFit/>
          </a:bodyPr>
          <a:lstStyle/>
          <a:p>
            <a:pPr algn="l"/>
            <a:r>
              <a:rPr sz="1500" b="0" i="0">
                <a:solidFill>
                  <a:srgbClr val="9CA3AF"/>
                </a:solidFill>
              </a:rPr>
              <a:t>Click any anchor on the map to see its FSI score, recommendation, and SHAP explanation</a:t>
            </a:r>
            <a:endParaRPr sz="1500" b="0" i="0">
              <a:solidFill>
                <a:srgbClr val="9CA3AF"/>
              </a:solidFill>
            </a:endParaRPr>
          </a:p>
        </p:txBody>
      </p:sp>
      <p:sp>
        <p:nvSpPr>
          <p:cNvPr id="8" name="Rectangle 7"/>
          <p:cNvSpPr/>
          <p:nvPr/>
        </p:nvSpPr>
        <p:spPr>
          <a:xfrm>
            <a:off x="320040" y="1828800"/>
            <a:ext cx="4434840" cy="4773168"/>
          </a:xfrm>
          <a:prstGeom prst="rect">
            <a:avLst/>
          </a:prstGeom>
          <a:solidFill>
            <a:srgbClr val="13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828800"/>
            <a:ext cx="4434840" cy="54864"/>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38528"/>
            <a:ext cx="4114800" cy="420624"/>
          </a:xfrm>
          <a:prstGeom prst="rect">
            <a:avLst/>
          </a:prstGeom>
          <a:noFill/>
        </p:spPr>
        <p:txBody>
          <a:bodyPr wrap="square">
            <a:spAutoFit/>
          </a:bodyPr>
          <a:lstStyle/>
          <a:p>
            <a:pPr algn="l"/>
            <a:r>
              <a:rPr sz="1700" b="1" i="0">
                <a:solidFill>
                  <a:srgbClr val="FFFFFF"/>
                </a:solidFill>
              </a:rPr>
              <a:t>Clark Elementary School</a:t>
            </a:r>
            <a:endParaRPr sz="1700" b="1" i="0">
              <a:solidFill>
                <a:srgbClr val="FFFFFF"/>
              </a:solidFill>
            </a:endParaRPr>
          </a:p>
        </p:txBody>
      </p:sp>
      <p:sp>
        <p:nvSpPr>
          <p:cNvPr id="11" name="TextBox 10"/>
          <p:cNvSpPr txBox="1"/>
          <p:nvPr/>
        </p:nvSpPr>
        <p:spPr>
          <a:xfrm>
            <a:off x="502920" y="2377440"/>
            <a:ext cx="4114800" cy="320040"/>
          </a:xfrm>
          <a:prstGeom prst="rect">
            <a:avLst/>
          </a:prstGeom>
          <a:noFill/>
        </p:spPr>
        <p:txBody>
          <a:bodyPr wrap="square">
            <a:spAutoFit/>
          </a:bodyPr>
          <a:lstStyle/>
          <a:p>
            <a:pPr algn="l"/>
            <a:r>
              <a:rPr sz="1100" b="0" i="0">
                <a:solidFill>
                  <a:srgbClr val="9CA3AF"/>
                </a:solidFill>
              </a:rPr>
              <a:t>School Dismissal   |   amenity: school</a:t>
            </a:r>
            <a:endParaRPr sz="1100" b="0" i="0">
              <a:solidFill>
                <a:srgbClr val="9CA3AF"/>
              </a:solidFill>
            </a:endParaRPr>
          </a:p>
        </p:txBody>
      </p:sp>
      <p:sp>
        <p:nvSpPr>
          <p:cNvPr id="12" name="Rectangle 11"/>
          <p:cNvSpPr/>
          <p:nvPr/>
        </p:nvSpPr>
        <p:spPr>
          <a:xfrm>
            <a:off x="411480" y="2788920"/>
            <a:ext cx="4251960" cy="98755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807208"/>
            <a:ext cx="868680" cy="914400"/>
          </a:xfrm>
          <a:prstGeom prst="rect">
            <a:avLst/>
          </a:prstGeom>
          <a:noFill/>
        </p:spPr>
        <p:txBody>
          <a:bodyPr wrap="square">
            <a:spAutoFit/>
          </a:bodyPr>
          <a:lstStyle/>
          <a:p>
            <a:pPr algn="l"/>
            <a:r>
              <a:rPr sz="4400" b="1" i="0">
                <a:solidFill>
                  <a:srgbClr val="6EE7B7"/>
                </a:solidFill>
              </a:rPr>
              <a:t>82</a:t>
            </a:r>
            <a:endParaRPr sz="4400" b="1" i="0">
              <a:solidFill>
                <a:srgbClr val="6EE7B7"/>
              </a:solidFill>
            </a:endParaRPr>
          </a:p>
        </p:txBody>
      </p:sp>
      <p:sp>
        <p:nvSpPr>
          <p:cNvPr id="14" name="TextBox 13"/>
          <p:cNvSpPr txBox="1"/>
          <p:nvPr/>
        </p:nvSpPr>
        <p:spPr>
          <a:xfrm>
            <a:off x="1389888" y="3145536"/>
            <a:ext cx="731520" cy="347472"/>
          </a:xfrm>
          <a:prstGeom prst="rect">
            <a:avLst/>
          </a:prstGeom>
          <a:noFill/>
        </p:spPr>
        <p:txBody>
          <a:bodyPr wrap="square">
            <a:spAutoFit/>
          </a:bodyPr>
          <a:lstStyle/>
          <a:p>
            <a:pPr algn="l"/>
            <a:r>
              <a:rPr sz="1400" b="0" i="0">
                <a:solidFill>
                  <a:srgbClr val="9CA3AF"/>
                </a:solidFill>
              </a:rPr>
              <a:t>/ 100</a:t>
            </a:r>
            <a:endParaRPr sz="1400" b="0" i="0">
              <a:solidFill>
                <a:srgbClr val="9CA3AF"/>
              </a:solidFill>
            </a:endParaRPr>
          </a:p>
        </p:txBody>
      </p:sp>
      <p:sp>
        <p:nvSpPr>
          <p:cNvPr id="15" name="Rectangle 14"/>
          <p:cNvSpPr/>
          <p:nvPr/>
        </p:nvSpPr>
        <p:spPr>
          <a:xfrm>
            <a:off x="2286000" y="2944368"/>
            <a:ext cx="2240280" cy="457200"/>
          </a:xfrm>
          <a:prstGeom prst="rect">
            <a:avLst/>
          </a:prstGeom>
          <a:solidFill>
            <a:srgbClr val="143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59152" y="3017520"/>
            <a:ext cx="2103120" cy="320040"/>
          </a:xfrm>
          <a:prstGeom prst="rect">
            <a:avLst/>
          </a:prstGeom>
          <a:noFill/>
        </p:spPr>
        <p:txBody>
          <a:bodyPr wrap="square">
            <a:spAutoFit/>
          </a:bodyPr>
          <a:lstStyle/>
          <a:p>
            <a:pPr algn="l"/>
            <a:r>
              <a:rPr sz="1300" b="1" i="0">
                <a:solidFill>
                  <a:srgbClr val="6EE7B7"/>
                </a:solidFill>
              </a:rPr>
              <a:t>Recommend Open  v</a:t>
            </a:r>
            <a:endParaRPr sz="1300" b="1" i="0">
              <a:solidFill>
                <a:srgbClr val="6EE7B7"/>
              </a:solidFill>
            </a:endParaRPr>
          </a:p>
        </p:txBody>
      </p:sp>
      <p:sp>
        <p:nvSpPr>
          <p:cNvPr id="17" name="Rectangle 16"/>
          <p:cNvSpPr/>
          <p:nvPr/>
        </p:nvSpPr>
        <p:spPr>
          <a:xfrm>
            <a:off x="411480" y="3831336"/>
            <a:ext cx="4251960" cy="182880"/>
          </a:xfrm>
          <a:prstGeom prst="rect">
            <a:avLst/>
          </a:prstGeom>
          <a:solidFill>
            <a:srgbClr val="2A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831336"/>
            <a:ext cx="3486607" cy="18288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133087"/>
            <a:ext cx="4023360" cy="320040"/>
          </a:xfrm>
          <a:prstGeom prst="rect">
            <a:avLst/>
          </a:prstGeom>
          <a:noFill/>
        </p:spPr>
        <p:txBody>
          <a:bodyPr wrap="square">
            <a:spAutoFit/>
          </a:bodyPr>
          <a:lstStyle/>
          <a:p>
            <a:pPr algn="l"/>
            <a:r>
              <a:rPr sz="1200" b="1" i="0">
                <a:solidFill>
                  <a:srgbClr val="FFFFFF"/>
                </a:solidFill>
              </a:rPr>
              <a:t>SHAP Factor Breakdown</a:t>
            </a:r>
            <a:endParaRPr sz="1200" b="1" i="0">
              <a:solidFill>
                <a:srgbClr val="FFFFFF"/>
              </a:solidFill>
            </a:endParaRPr>
          </a:p>
        </p:txBody>
      </p:sp>
      <p:sp>
        <p:nvSpPr>
          <p:cNvPr id="20" name="Rectangle 19"/>
          <p:cNvSpPr/>
          <p:nvPr/>
        </p:nvSpPr>
        <p:spPr>
          <a:xfrm>
            <a:off x="411480" y="4498848"/>
            <a:ext cx="4251960" cy="310896"/>
          </a:xfrm>
          <a:prstGeom prst="rect">
            <a:avLst/>
          </a:prstGeom>
          <a:solidFill>
            <a:srgbClr val="1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4526280"/>
            <a:ext cx="548640" cy="256032"/>
          </a:xfrm>
          <a:prstGeom prst="rect">
            <a:avLst/>
          </a:prstGeom>
          <a:noFill/>
        </p:spPr>
        <p:txBody>
          <a:bodyPr wrap="square">
            <a:spAutoFit/>
          </a:bodyPr>
          <a:lstStyle/>
          <a:p>
            <a:pPr algn="l"/>
            <a:r>
              <a:rPr sz="1100" b="1" i="0">
                <a:solidFill>
                  <a:srgbClr val="6EE7B7"/>
                </a:solidFill>
              </a:rPr>
              <a:t>+35</a:t>
            </a:r>
            <a:endParaRPr sz="1100" b="1" i="0">
              <a:solidFill>
                <a:srgbClr val="6EE7B7"/>
              </a:solidFill>
            </a:endParaRPr>
          </a:p>
        </p:txBody>
      </p:sp>
      <p:sp>
        <p:nvSpPr>
          <p:cNvPr id="22" name="TextBox 21"/>
          <p:cNvSpPr txBox="1"/>
          <p:nvPr/>
        </p:nvSpPr>
        <p:spPr>
          <a:xfrm>
            <a:off x="1078992" y="4526280"/>
            <a:ext cx="3474720" cy="256032"/>
          </a:xfrm>
          <a:prstGeom prst="rect">
            <a:avLst/>
          </a:prstGeom>
          <a:noFill/>
        </p:spPr>
        <p:txBody>
          <a:bodyPr wrap="square">
            <a:spAutoFit/>
          </a:bodyPr>
          <a:lstStyle/>
          <a:p>
            <a:pPr algn="l"/>
            <a:r>
              <a:rPr sz="1100" b="0" i="0">
                <a:solidFill>
                  <a:srgbClr val="FFFFFF"/>
                </a:solidFill>
              </a:rPr>
              <a:t>Dismissal time match</a:t>
            </a:r>
            <a:endParaRPr sz="1100" b="0" i="0">
              <a:solidFill>
                <a:srgbClr val="FFFFFF"/>
              </a:solidFill>
            </a:endParaRPr>
          </a:p>
        </p:txBody>
      </p:sp>
      <p:sp>
        <p:nvSpPr>
          <p:cNvPr id="23" name="Rectangle 22"/>
          <p:cNvSpPr/>
          <p:nvPr/>
        </p:nvSpPr>
        <p:spPr>
          <a:xfrm>
            <a:off x="411480" y="4846320"/>
            <a:ext cx="4251960" cy="310896"/>
          </a:xfrm>
          <a:prstGeom prst="rect">
            <a:avLst/>
          </a:prstGeom>
          <a:solidFill>
            <a:srgbClr val="1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4873752"/>
            <a:ext cx="548640" cy="256032"/>
          </a:xfrm>
          <a:prstGeom prst="rect">
            <a:avLst/>
          </a:prstGeom>
          <a:noFill/>
        </p:spPr>
        <p:txBody>
          <a:bodyPr wrap="square">
            <a:spAutoFit/>
          </a:bodyPr>
          <a:lstStyle/>
          <a:p>
            <a:pPr algn="l"/>
            <a:r>
              <a:rPr sz="1100" b="1" i="0">
                <a:solidFill>
                  <a:srgbClr val="6EE7B7"/>
                </a:solidFill>
              </a:rPr>
              <a:t>+28</a:t>
            </a:r>
            <a:endParaRPr sz="1100" b="1" i="0">
              <a:solidFill>
                <a:srgbClr val="6EE7B7"/>
              </a:solidFill>
            </a:endParaRPr>
          </a:p>
        </p:txBody>
      </p:sp>
      <p:sp>
        <p:nvSpPr>
          <p:cNvPr id="25" name="TextBox 24"/>
          <p:cNvSpPr txBox="1"/>
          <p:nvPr/>
        </p:nvSpPr>
        <p:spPr>
          <a:xfrm>
            <a:off x="1078992" y="4873752"/>
            <a:ext cx="3474720" cy="256032"/>
          </a:xfrm>
          <a:prstGeom prst="rect">
            <a:avLst/>
          </a:prstGeom>
          <a:noFill/>
        </p:spPr>
        <p:txBody>
          <a:bodyPr wrap="square">
            <a:spAutoFit/>
          </a:bodyPr>
          <a:lstStyle/>
          <a:p>
            <a:pPr algn="l"/>
            <a:r>
              <a:rPr sz="1100" b="0" i="0">
                <a:solidFill>
                  <a:srgbClr val="FFFFFF"/>
                </a:solidFill>
              </a:rPr>
              <a:t>Low traffic conflict</a:t>
            </a:r>
            <a:endParaRPr sz="1100" b="0" i="0">
              <a:solidFill>
                <a:srgbClr val="FFFFFF"/>
              </a:solidFill>
            </a:endParaRPr>
          </a:p>
        </p:txBody>
      </p:sp>
      <p:sp>
        <p:nvSpPr>
          <p:cNvPr id="26" name="Rectangle 25"/>
          <p:cNvSpPr/>
          <p:nvPr/>
        </p:nvSpPr>
        <p:spPr>
          <a:xfrm>
            <a:off x="411480" y="5193792"/>
            <a:ext cx="4251960" cy="310896"/>
          </a:xfrm>
          <a:prstGeom prst="rect">
            <a:avLst/>
          </a:prstGeom>
          <a:solidFill>
            <a:srgbClr val="1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 y="5221224"/>
            <a:ext cx="548640" cy="256032"/>
          </a:xfrm>
          <a:prstGeom prst="rect">
            <a:avLst/>
          </a:prstGeom>
          <a:noFill/>
        </p:spPr>
        <p:txBody>
          <a:bodyPr wrap="square">
            <a:spAutoFit/>
          </a:bodyPr>
          <a:lstStyle/>
          <a:p>
            <a:pPr algn="l"/>
            <a:r>
              <a:rPr sz="1100" b="1" i="0">
                <a:solidFill>
                  <a:srgbClr val="6EE7B7"/>
                </a:solidFill>
              </a:rPr>
              <a:t>+19</a:t>
            </a:r>
            <a:endParaRPr sz="1100" b="1" i="0">
              <a:solidFill>
                <a:srgbClr val="6EE7B7"/>
              </a:solidFill>
            </a:endParaRPr>
          </a:p>
        </p:txBody>
      </p:sp>
      <p:sp>
        <p:nvSpPr>
          <p:cNvPr id="28" name="TextBox 27"/>
          <p:cNvSpPr txBox="1"/>
          <p:nvPr/>
        </p:nvSpPr>
        <p:spPr>
          <a:xfrm>
            <a:off x="1078992" y="5221224"/>
            <a:ext cx="3474720" cy="256032"/>
          </a:xfrm>
          <a:prstGeom prst="rect">
            <a:avLst/>
          </a:prstGeom>
          <a:noFill/>
        </p:spPr>
        <p:txBody>
          <a:bodyPr wrap="square">
            <a:spAutoFit/>
          </a:bodyPr>
          <a:lstStyle/>
          <a:p>
            <a:pPr algn="l"/>
            <a:r>
              <a:rPr sz="1100" b="0" i="0">
                <a:solidFill>
                  <a:srgbClr val="FFFFFF"/>
                </a:solidFill>
              </a:rPr>
              <a:t>High child density</a:t>
            </a:r>
            <a:endParaRPr sz="1100" b="0" i="0">
              <a:solidFill>
                <a:srgbClr val="FFFFFF"/>
              </a:solidFill>
            </a:endParaRPr>
          </a:p>
        </p:txBody>
      </p:sp>
      <p:sp>
        <p:nvSpPr>
          <p:cNvPr id="29" name="Rectangle 28"/>
          <p:cNvSpPr/>
          <p:nvPr/>
        </p:nvSpPr>
        <p:spPr>
          <a:xfrm>
            <a:off x="411480" y="5541264"/>
            <a:ext cx="4251960" cy="310896"/>
          </a:xfrm>
          <a:prstGeom prst="rect">
            <a:avLst/>
          </a:prstGeom>
          <a:solidFill>
            <a:srgbClr val="1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5568696"/>
            <a:ext cx="548640" cy="256032"/>
          </a:xfrm>
          <a:prstGeom prst="rect">
            <a:avLst/>
          </a:prstGeom>
          <a:noFill/>
        </p:spPr>
        <p:txBody>
          <a:bodyPr wrap="square">
            <a:spAutoFit/>
          </a:bodyPr>
          <a:lstStyle/>
          <a:p>
            <a:pPr algn="l"/>
            <a:r>
              <a:rPr sz="1100" b="1" i="0">
                <a:solidFill>
                  <a:srgbClr val="F87171"/>
                </a:solidFill>
              </a:rPr>
              <a:t>-12</a:t>
            </a:r>
            <a:endParaRPr sz="1100" b="1" i="0">
              <a:solidFill>
                <a:srgbClr val="F87171"/>
              </a:solidFill>
            </a:endParaRPr>
          </a:p>
        </p:txBody>
      </p:sp>
      <p:sp>
        <p:nvSpPr>
          <p:cNvPr id="31" name="TextBox 30"/>
          <p:cNvSpPr txBox="1"/>
          <p:nvPr/>
        </p:nvSpPr>
        <p:spPr>
          <a:xfrm>
            <a:off x="1078992" y="5568696"/>
            <a:ext cx="3474720" cy="256032"/>
          </a:xfrm>
          <a:prstGeom prst="rect">
            <a:avLst/>
          </a:prstGeom>
          <a:noFill/>
        </p:spPr>
        <p:txBody>
          <a:bodyPr wrap="square">
            <a:spAutoFit/>
          </a:bodyPr>
          <a:lstStyle/>
          <a:p>
            <a:pPr algn="l"/>
            <a:r>
              <a:rPr sz="1100" b="0" i="0">
                <a:solidFill>
                  <a:srgbClr val="FFFFFF"/>
                </a:solidFill>
              </a:rPr>
              <a:t>SEPTA bus route nearby</a:t>
            </a:r>
            <a:endParaRPr sz="1100" b="0" i="0">
              <a:solidFill>
                <a:srgbClr val="FFFFFF"/>
              </a:solidFill>
            </a:endParaRPr>
          </a:p>
        </p:txBody>
      </p:sp>
      <p:sp>
        <p:nvSpPr>
          <p:cNvPr id="32" name="Rectangle 31"/>
          <p:cNvSpPr/>
          <p:nvPr/>
        </p:nvSpPr>
        <p:spPr>
          <a:xfrm>
            <a:off x="411480" y="5888736"/>
            <a:ext cx="4251960" cy="310896"/>
          </a:xfrm>
          <a:prstGeom prst="rect">
            <a:avLst/>
          </a:prstGeom>
          <a:solidFill>
            <a:srgbClr val="1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5916168"/>
            <a:ext cx="548640" cy="256032"/>
          </a:xfrm>
          <a:prstGeom prst="rect">
            <a:avLst/>
          </a:prstGeom>
          <a:noFill/>
        </p:spPr>
        <p:txBody>
          <a:bodyPr wrap="square">
            <a:spAutoFit/>
          </a:bodyPr>
          <a:lstStyle/>
          <a:p>
            <a:pPr algn="l"/>
            <a:r>
              <a:rPr sz="1100" b="1" i="0">
                <a:solidFill>
                  <a:srgbClr val="F87171"/>
                </a:solidFill>
              </a:rPr>
              <a:t> -8</a:t>
            </a:r>
            <a:endParaRPr sz="1100" b="1" i="0">
              <a:solidFill>
                <a:srgbClr val="F87171"/>
              </a:solidFill>
            </a:endParaRPr>
          </a:p>
        </p:txBody>
      </p:sp>
      <p:sp>
        <p:nvSpPr>
          <p:cNvPr id="34" name="TextBox 33"/>
          <p:cNvSpPr txBox="1"/>
          <p:nvPr/>
        </p:nvSpPr>
        <p:spPr>
          <a:xfrm>
            <a:off x="1078992" y="5916168"/>
            <a:ext cx="3474720" cy="256032"/>
          </a:xfrm>
          <a:prstGeom prst="rect">
            <a:avLst/>
          </a:prstGeom>
          <a:noFill/>
        </p:spPr>
        <p:txBody>
          <a:bodyPr wrap="square">
            <a:spAutoFit/>
          </a:bodyPr>
          <a:lstStyle/>
          <a:p>
            <a:pPr algn="l"/>
            <a:r>
              <a:rPr sz="1100" b="0" i="0">
                <a:solidFill>
                  <a:srgbClr val="FFFFFF"/>
                </a:solidFill>
              </a:rPr>
              <a:t>Moderate parking demand</a:t>
            </a:r>
            <a:endParaRPr sz="1100" b="0" i="0">
              <a:solidFill>
                <a:srgbClr val="FFFFFF"/>
              </a:solidFill>
            </a:endParaRPr>
          </a:p>
        </p:txBody>
      </p:sp>
      <p:sp>
        <p:nvSpPr>
          <p:cNvPr id="35" name="Rectangle 34"/>
          <p:cNvSpPr/>
          <p:nvPr/>
        </p:nvSpPr>
        <p:spPr>
          <a:xfrm>
            <a:off x="5074920" y="1828800"/>
            <a:ext cx="2286000" cy="2468880"/>
          </a:xfrm>
          <a:prstGeom prst="rect">
            <a:avLst/>
          </a:prstGeom>
          <a:solidFill>
            <a:srgbClr val="143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4920" y="1828800"/>
            <a:ext cx="2286000" cy="54864"/>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0" y="1938528"/>
            <a:ext cx="2057400" cy="411480"/>
          </a:xfrm>
          <a:prstGeom prst="rect">
            <a:avLst/>
          </a:prstGeom>
          <a:noFill/>
        </p:spPr>
        <p:txBody>
          <a:bodyPr wrap="square">
            <a:spAutoFit/>
          </a:bodyPr>
          <a:lstStyle/>
          <a:p>
            <a:pPr algn="l"/>
            <a:r>
              <a:rPr sz="1500" b="1" i="0">
                <a:solidFill>
                  <a:srgbClr val="6EE7B7"/>
                </a:solidFill>
              </a:rPr>
              <a:t>70 – 100</a:t>
            </a:r>
            <a:endParaRPr sz="1500" b="1" i="0">
              <a:solidFill>
                <a:srgbClr val="6EE7B7"/>
              </a:solidFill>
            </a:endParaRPr>
          </a:p>
        </p:txBody>
      </p:sp>
      <p:sp>
        <p:nvSpPr>
          <p:cNvPr id="38" name="TextBox 37"/>
          <p:cNvSpPr txBox="1"/>
          <p:nvPr/>
        </p:nvSpPr>
        <p:spPr>
          <a:xfrm>
            <a:off x="5212080" y="2377440"/>
            <a:ext cx="2057400" cy="566928"/>
          </a:xfrm>
          <a:prstGeom prst="rect">
            <a:avLst/>
          </a:prstGeom>
          <a:noFill/>
        </p:spPr>
        <p:txBody>
          <a:bodyPr wrap="square">
            <a:spAutoFit/>
          </a:bodyPr>
          <a:lstStyle/>
          <a:p>
            <a:pPr algn="l"/>
            <a:r>
              <a:rPr sz="2000" b="1" i="0">
                <a:solidFill>
                  <a:srgbClr val="FFFFFF"/>
                </a:solidFill>
              </a:rPr>
              <a:t>Recommend
Open</a:t>
            </a:r>
            <a:endParaRPr sz="2000" b="1" i="0">
              <a:solidFill>
                <a:srgbClr val="FFFFFF"/>
              </a:solidFill>
            </a:endParaRPr>
          </a:p>
        </p:txBody>
      </p:sp>
      <p:sp>
        <p:nvSpPr>
          <p:cNvPr id="39" name="TextBox 38"/>
          <p:cNvSpPr txBox="1"/>
          <p:nvPr/>
        </p:nvSpPr>
        <p:spPr>
          <a:xfrm>
            <a:off x="5212080" y="2999232"/>
            <a:ext cx="2057400" cy="777240"/>
          </a:xfrm>
          <a:prstGeom prst="rect">
            <a:avLst/>
          </a:prstGeom>
          <a:noFill/>
        </p:spPr>
        <p:txBody>
          <a:bodyPr wrap="square">
            <a:spAutoFit/>
          </a:bodyPr>
          <a:lstStyle/>
          <a:p>
            <a:pPr algn="l"/>
            <a:r>
              <a:rPr sz="1200" b="0" i="0">
                <a:solidFill>
                  <a:srgbClr val="9CA3AF"/>
                </a:solidFill>
              </a:rPr>
              <a:t>Conditions met
Apply directly</a:t>
            </a:r>
            <a:endParaRPr sz="1200" b="0" i="0">
              <a:solidFill>
                <a:srgbClr val="9CA3AF"/>
              </a:solidFill>
            </a:endParaRPr>
          </a:p>
        </p:txBody>
      </p:sp>
      <p:sp>
        <p:nvSpPr>
          <p:cNvPr id="40" name="Rectangle 39"/>
          <p:cNvSpPr/>
          <p:nvPr/>
        </p:nvSpPr>
        <p:spPr>
          <a:xfrm>
            <a:off x="7470648" y="1828800"/>
            <a:ext cx="2286000" cy="2468880"/>
          </a:xfrm>
          <a:prstGeom prst="rect">
            <a:avLst/>
          </a:prstGeom>
          <a:solidFill>
            <a:srgbClr val="3A2E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470648" y="1828800"/>
            <a:ext cx="228600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7808" y="1938528"/>
            <a:ext cx="2057400" cy="411480"/>
          </a:xfrm>
          <a:prstGeom prst="rect">
            <a:avLst/>
          </a:prstGeom>
          <a:noFill/>
        </p:spPr>
        <p:txBody>
          <a:bodyPr wrap="square">
            <a:spAutoFit/>
          </a:bodyPr>
          <a:lstStyle/>
          <a:p>
            <a:pPr algn="l"/>
            <a:r>
              <a:rPr sz="1500" b="1" i="0">
                <a:solidFill>
                  <a:srgbClr val="FBBF24"/>
                </a:solidFill>
              </a:rPr>
              <a:t>40 – 69</a:t>
            </a:r>
            <a:endParaRPr sz="1500" b="1" i="0">
              <a:solidFill>
                <a:srgbClr val="FBBF24"/>
              </a:solidFill>
            </a:endParaRPr>
          </a:p>
        </p:txBody>
      </p:sp>
      <p:sp>
        <p:nvSpPr>
          <p:cNvPr id="43" name="TextBox 42"/>
          <p:cNvSpPr txBox="1"/>
          <p:nvPr/>
        </p:nvSpPr>
        <p:spPr>
          <a:xfrm>
            <a:off x="7607808" y="2377440"/>
            <a:ext cx="2057400" cy="566928"/>
          </a:xfrm>
          <a:prstGeom prst="rect">
            <a:avLst/>
          </a:prstGeom>
          <a:noFill/>
        </p:spPr>
        <p:txBody>
          <a:bodyPr wrap="square">
            <a:spAutoFit/>
          </a:bodyPr>
          <a:lstStyle/>
          <a:p>
            <a:pPr algn="l"/>
            <a:r>
              <a:rPr sz="2000" b="1" i="0">
                <a:solidFill>
                  <a:srgbClr val="FFFFFF"/>
                </a:solidFill>
              </a:rPr>
              <a:t>Conditional
Open</a:t>
            </a:r>
            <a:endParaRPr sz="2000" b="1" i="0">
              <a:solidFill>
                <a:srgbClr val="FFFFFF"/>
              </a:solidFill>
            </a:endParaRPr>
          </a:p>
        </p:txBody>
      </p:sp>
      <p:sp>
        <p:nvSpPr>
          <p:cNvPr id="44" name="TextBox 43"/>
          <p:cNvSpPr txBox="1"/>
          <p:nvPr/>
        </p:nvSpPr>
        <p:spPr>
          <a:xfrm>
            <a:off x="7607808" y="2999232"/>
            <a:ext cx="2057400" cy="777240"/>
          </a:xfrm>
          <a:prstGeom prst="rect">
            <a:avLst/>
          </a:prstGeom>
          <a:noFill/>
        </p:spPr>
        <p:txBody>
          <a:bodyPr wrap="square">
            <a:spAutoFit/>
          </a:bodyPr>
          <a:lstStyle/>
          <a:p>
            <a:pPr algn="l"/>
            <a:r>
              <a:rPr sz="1200" b="0" i="0">
                <a:solidFill>
                  <a:srgbClr val="9CA3AF"/>
                </a:solidFill>
              </a:rPr>
              <a:t>Requires traffic
control measures</a:t>
            </a:r>
            <a:endParaRPr sz="1200" b="0" i="0">
              <a:solidFill>
                <a:srgbClr val="9CA3AF"/>
              </a:solidFill>
            </a:endParaRPr>
          </a:p>
        </p:txBody>
      </p:sp>
      <p:sp>
        <p:nvSpPr>
          <p:cNvPr id="45" name="Rectangle 44"/>
          <p:cNvSpPr/>
          <p:nvPr/>
        </p:nvSpPr>
        <p:spPr>
          <a:xfrm>
            <a:off x="9866376" y="1828800"/>
            <a:ext cx="2286000" cy="2468880"/>
          </a:xfrm>
          <a:prstGeom prst="rect">
            <a:avLst/>
          </a:prstGeom>
          <a:solidFill>
            <a:srgbClr val="4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66376" y="1828800"/>
            <a:ext cx="2286000" cy="54864"/>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03536" y="1938528"/>
            <a:ext cx="2057400" cy="411480"/>
          </a:xfrm>
          <a:prstGeom prst="rect">
            <a:avLst/>
          </a:prstGeom>
          <a:noFill/>
        </p:spPr>
        <p:txBody>
          <a:bodyPr wrap="square">
            <a:spAutoFit/>
          </a:bodyPr>
          <a:lstStyle/>
          <a:p>
            <a:pPr algn="l"/>
            <a:r>
              <a:rPr sz="1500" b="1" i="0">
                <a:solidFill>
                  <a:srgbClr val="F87171"/>
                </a:solidFill>
              </a:rPr>
              <a:t>0 – 39</a:t>
            </a:r>
            <a:endParaRPr sz="1500" b="1" i="0">
              <a:solidFill>
                <a:srgbClr val="F87171"/>
              </a:solidFill>
            </a:endParaRPr>
          </a:p>
        </p:txBody>
      </p:sp>
      <p:sp>
        <p:nvSpPr>
          <p:cNvPr id="48" name="TextBox 47"/>
          <p:cNvSpPr txBox="1"/>
          <p:nvPr/>
        </p:nvSpPr>
        <p:spPr>
          <a:xfrm>
            <a:off x="10003536" y="2377440"/>
            <a:ext cx="2057400" cy="566928"/>
          </a:xfrm>
          <a:prstGeom prst="rect">
            <a:avLst/>
          </a:prstGeom>
          <a:noFill/>
        </p:spPr>
        <p:txBody>
          <a:bodyPr wrap="square">
            <a:spAutoFit/>
          </a:bodyPr>
          <a:lstStyle/>
          <a:p>
            <a:pPr algn="l"/>
            <a:r>
              <a:rPr sz="2000" b="1" i="0">
                <a:solidFill>
                  <a:srgbClr val="FFFFFF"/>
                </a:solidFill>
              </a:rPr>
              <a:t>Not
Advisable</a:t>
            </a:r>
            <a:endParaRPr sz="2000" b="1" i="0">
              <a:solidFill>
                <a:srgbClr val="FFFFFF"/>
              </a:solidFill>
            </a:endParaRPr>
          </a:p>
        </p:txBody>
      </p:sp>
      <p:sp>
        <p:nvSpPr>
          <p:cNvPr id="49" name="TextBox 48"/>
          <p:cNvSpPr txBox="1"/>
          <p:nvPr/>
        </p:nvSpPr>
        <p:spPr>
          <a:xfrm>
            <a:off x="10003536" y="2999232"/>
            <a:ext cx="2057400" cy="777240"/>
          </a:xfrm>
          <a:prstGeom prst="rect">
            <a:avLst/>
          </a:prstGeom>
          <a:noFill/>
        </p:spPr>
        <p:txBody>
          <a:bodyPr wrap="square">
            <a:spAutoFit/>
          </a:bodyPr>
          <a:lstStyle/>
          <a:p>
            <a:pPr algn="l"/>
            <a:r>
              <a:rPr sz="1200" b="0" i="0">
                <a:solidFill>
                  <a:srgbClr val="9CA3AF"/>
                </a:solidFill>
              </a:rPr>
              <a:t>Risk too high
do not open</a:t>
            </a:r>
            <a:endParaRPr sz="1200" b="0" i="0">
              <a:solidFill>
                <a:srgbClr val="9CA3AF"/>
              </a:solidFill>
            </a:endParaRPr>
          </a:p>
        </p:txBody>
      </p:sp>
      <p:sp>
        <p:nvSpPr>
          <p:cNvPr id="50" name="Rectangle 49"/>
          <p:cNvSpPr/>
          <p:nvPr/>
        </p:nvSpPr>
        <p:spPr>
          <a:xfrm>
            <a:off x="5074920" y="4434840"/>
            <a:ext cx="6858000" cy="217627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074920" y="4434840"/>
            <a:ext cx="6858000" cy="6400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30368" y="4535424"/>
            <a:ext cx="6537960" cy="365760"/>
          </a:xfrm>
          <a:prstGeom prst="rect">
            <a:avLst/>
          </a:prstGeom>
          <a:noFill/>
        </p:spPr>
        <p:txBody>
          <a:bodyPr wrap="square">
            <a:spAutoFit/>
          </a:bodyPr>
          <a:lstStyle/>
          <a:p>
            <a:pPr algn="l"/>
            <a:r>
              <a:rPr sz="1400" b="1" i="0">
                <a:solidFill>
                  <a:srgbClr val="A78BFA"/>
                </a:solidFill>
              </a:rPr>
              <a:t>Why SHAP Explainability Matters</a:t>
            </a:r>
            <a:endParaRPr sz="1400" b="1" i="0">
              <a:solidFill>
                <a:srgbClr val="A78BFA"/>
              </a:solidFill>
            </a:endParaRPr>
          </a:p>
        </p:txBody>
      </p:sp>
      <p:sp>
        <p:nvSpPr>
          <p:cNvPr id="53" name="TextBox 52"/>
          <p:cNvSpPr txBox="1"/>
          <p:nvPr/>
        </p:nvSpPr>
        <p:spPr>
          <a:xfrm>
            <a:off x="5230368" y="4974336"/>
            <a:ext cx="6601968" cy="1572768"/>
          </a:xfrm>
          <a:prstGeom prst="rect">
            <a:avLst/>
          </a:prstGeom>
          <a:noFill/>
        </p:spPr>
        <p:txBody>
          <a:bodyPr wrap="square">
            <a:spAutoFit/>
          </a:bodyPr>
          <a:lstStyle/>
          <a:p>
            <a:pPr algn="l"/>
            <a:r>
              <a:rPr sz="1200" b="0" i="0">
                <a:solidFill>
                  <a:srgbClr val="9CA3AF"/>
                </a:solidFill>
              </a:rPr>
              <a:t>Planners don't just need a number — they need to justify the decision to government approval bodies and community residents.
SHAP (SHapley Additive exPlanations) quantifies each feature's contribution to the final score as a positive or negative value, making the model's reasoning transparent, communicable, and defensible.</a:t>
            </a:r>
            <a:endParaRPr sz="1200" b="0" i="0">
              <a:solidFill>
                <a:srgbClr val="9CA3A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5472</Words>
  <Application>WPS 演示</Application>
  <PresentationFormat>On-screen Show (4:3)</PresentationFormat>
  <Paragraphs>296</Paragraphs>
  <Slides>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Arial</vt:lpstr>
      <vt:lpstr>宋体</vt:lpstr>
      <vt:lpstr>Wingdings</vt:lpstr>
      <vt:lpstr>Arial</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廿旧</cp:lastModifiedBy>
  <cp:revision>3</cp:revision>
  <dcterms:created xsi:type="dcterms:W3CDTF">2013-01-27T09:14:00Z</dcterms:created>
  <dcterms:modified xsi:type="dcterms:W3CDTF">2026-03-19T16:07:45Z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52E9E90F55304F0EA09E0AFC55C1E971_12</vt:lpwstr>
  </property>
  <property fmtid="{D5CDD505-2E9C-101B-9397-08002B2CF9AE}" pid="3" name="KSOProductBuildVer">
    <vt:lpwstr>2052-12.1.0.25225</vt:lpwstr>
  </property>
</Properties>
</file>