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我们选择 XGBoost 作为核心评分模型，而不是 Random Forest。</a:t>
            </a:r>
          </a:p>
          <a:p/>
          <a:p>
            <a:r>
              <a:t>两者都是基于决策树的集成方法，但核心逻辑不同。Random Forest 是五百棵树并行生长、独立预测、取平均；而 XGBoost 是串行的，每一棵新树专门去修正前一棵树预测错的样本，通过梯度下降不断优化误差，因此在同等数据量下精度更高。</a:t>
            </a:r>
          </a:p>
          <a:p/>
          <a:p>
            <a:r>
              <a:t>两者都支持 SHAP 可解释性，可以告诉规划师每个评分的主要原因。</a:t>
            </a:r>
          </a:p>
          <a:p/>
          <a:p>
            <a:r>
              <a:t>我们没有选择深度学习，是因为费城的 Play Streets 历史标注数据量有限，深度学习在小数据集上容易过拟合，而 XGBoost 在结构化特征加小数据集的场景下几乎是行业最优选择。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这一页展示我们如何对七种不同类型的 anchor 进行差异化处理。</a:t>
            </a:r>
          </a:p>
          <a:p/>
          <a:p>
            <a:r>
              <a:t>核心思路是：七种场景共享同一套特征体系，但每种场景独立训练一个 XGBoost 模型，关键特征的权重完全不同。</a:t>
            </a:r>
          </a:p>
          <a:p/>
          <a:p>
            <a:r>
              <a:t>以学校放学场景为例，我们特别区分了公立学校和私立学校。公立学校以校车为主，放学时间集中可预测，所以步行安全权重更高；私立学校私家车接送多，停车冲突是主要问题，所以停车压力特征权重更高。</a:t>
            </a:r>
          </a:p>
          <a:p/>
          <a:p>
            <a:r>
              <a:t>Transit Zone 以30街火车站为例，早晚高峰的 is_rush_hour 是一个硬约束，直接否决，不进入模型计算。</a:t>
            </a:r>
          </a:p>
          <a:p/>
          <a:p>
            <a:r>
              <a:t>底部说明了所有场景的共同机制：特征体系统一，权重差异化；有些条件是硬约束，直接否决。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这一页展示模型的完整四步流程。</a:t>
            </a:r>
          </a:p>
          <a:p/>
          <a:p>
            <a:r>
              <a:t>第一步，数据接入。我们从六个公开数据库获取数据，通过空间连接的方式把每个数据点绑定到对应的anchor上。</a:t>
            </a:r>
          </a:p>
          <a:p/>
          <a:p>
            <a:r>
              <a:t>第二步，特征工程。把原始数据计算成四类可量化的特征：时段特征、活动特征、安全特征和社区特征。每个anchor最终变成一行数字向量。在这一步之前，硬约束条件会先过滤掉明显不适合开放的情况，比如紧急通道或早晚高峰。</a:t>
            </a:r>
          </a:p>
          <a:p/>
          <a:p>
            <a:r>
              <a:t>第三步，XGBoost训练。正样本来自费城Play Streets历史批准记录，负样本来自Vision Zero高事故路段。七种场景分别训练独立的模型，XGBoost通过梯度提升不断修正预测误差，最终输出0到100的评分。</a:t>
            </a:r>
          </a:p>
          <a:p/>
          <a:p>
            <a:r>
              <a:t>第四步，结果输出。评分写入Supabase数据库，前端实时读取并显示。输出包括FSI评分、开放建议（三档），以及SHAP主因解释，告诉规划师这个分数背后的主要原因。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最后一页展示前端的输出界面。</a:t>
            </a:r>
          </a:p>
          <a:p/>
          <a:p>
            <a:r>
              <a:t>规划师在地图上点击任意一个anchor，右侧会弹出详情面板，显示三部分内容。</a:t>
            </a:r>
          </a:p>
          <a:p/>
          <a:p>
            <a:r>
              <a:t>第一部分是FSI评分和开放建议。以Clark Elementary School为例，评分82分，属于建议开放区间。进度条直观显示分数位置。</a:t>
            </a:r>
          </a:p>
          <a:p/>
          <a:p>
            <a:r>
              <a:t>第二部分是主要影响因子，由SHAP值计算得出。这里显示了五个主要因素：放学时段匹配贡献加35分，低交通冲突加28分，儿童密度高加19分，但附近有SEPTA公交线路扣了12分，停车需求中等扣了8分。</a:t>
            </a:r>
          </a:p>
          <a:p/>
          <a:p>
            <a:r>
              <a:t>第三部分解释了为什么需要SHAP。规划师不只需要一个分数，他们需要向政府和社区解释决策依据。SHAP是机器学习领域标准的可解释性工具，把每个特征的贡献量化成正负分值，让决策有据可查、可沟通、可答辩。</a:t>
            </a:r>
          </a:p>
          <a:p/>
          <a:p>
            <a:r>
              <a:t>右上方三个档位说明了评分的判定标准：70到100分建议开放，40到69分有条件开放，0到39分不建议。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1 /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2194560" cy="34747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F1A"/>
                </a:solidFill>
              </a:rPr>
              <a:t>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为什么选择 XGBoost？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比 Random Forest 更强，同样可解释，更适合小数据量的城市规划评分任务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5394960" cy="43891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CA3AF"/>
                </a:solidFill>
              </a:rPr>
              <a:t>Random Forest（基准）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• 500棵树并行生长，互相独立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98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• 结果取平均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741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• 对噪声数据鲁棒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96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• 可用 SHAP 解释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828800"/>
            <a:ext cx="5852160" cy="43891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5852160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XGBoost（推荐）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</a:rPr>
              <a:t>✓  每棵树专门修正上一棵树的错误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8986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</a:rPr>
              <a:t>✓  梯度下降优化，精度更高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7413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</a:rPr>
              <a:t>✓  小数据集上表现更稳定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4962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E7B7"/>
                </a:solidFill>
              </a:rPr>
              <a:t>✓  同样支持 SHAP 可解释性输出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72000"/>
            <a:ext cx="11521440" cy="73152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核心升级逻辑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RF：每棵树独立生长，随机采样
XGBoost：后一棵树专门学习前一棵树预测错的样本
→ 误差不断被修正，同样数据量下精度更高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为什么不用深度学习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0749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费城 Play Streets 标注数据有限（数百条）
深度学习需要大量数据才能发挥优势
XGBoost 在小数据 + 结构化特征上几乎无对手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2 /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219456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F1A"/>
                </a:solidFill>
              </a:rPr>
              <a:t>ANCHOR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不同 Anchor，不同评分逻辑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7种场景独立训练，每种场景的关键特征权重完全不同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572768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8013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F1A"/>
                </a:solidFill>
              </a:rPr>
              <a:t>School Dismissal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86000"/>
            <a:ext cx="1572768" cy="4206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1572768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359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</a:rPr>
              <a:t>最重要：time_match + pedestrian_safety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926080"/>
            <a:ext cx="1463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Public: 校车为主，时段集中，步行安全权重高
Private: 私家车为主，停车冲突权重高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434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A3AF"/>
                </a:solidFill>
              </a:rPr>
              <a:t>school_type=0/1 决定权重分支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1783080"/>
            <a:ext cx="1572768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9112" y="18013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18745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F1A"/>
                </a:solidFill>
              </a:rPr>
              <a:t>Weekend Market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2286000"/>
            <a:ext cx="1572768" cy="4206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65960" y="2286000"/>
            <a:ext cx="1572768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2359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BF24"/>
                </a:solidFill>
              </a:rPr>
              <a:t>最重要：foot_traffic + is_food_desert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2926080"/>
            <a:ext cx="1463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周末客流密度 + 是否位于食物荒漠区域
周边街道是否能吸收绕行车流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434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A3AF"/>
                </a:solidFill>
              </a:rPr>
              <a:t>food_desert 作为社区公平性修正项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1783080"/>
            <a:ext cx="1572768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2" y="18013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18745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F1A"/>
                </a:solidFill>
              </a:rPr>
              <a:t>Community Event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2286000"/>
            <a:ext cx="1572768" cy="4206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11880" y="2286000"/>
            <a:ext cx="1572768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2359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</a:rPr>
              <a:t>最重要：event_schedule + detour_capacity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2926080"/>
            <a:ext cx="1463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活动是否有固定时间表（可预测性）
周边路网的绕行承载能力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434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A3AF"/>
                </a:solidFill>
              </a:rPr>
              <a:t>与 Weekend Market 分开训练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1783080"/>
            <a:ext cx="1572768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30952" y="18013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🍽️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18745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F1A"/>
                </a:solidFill>
              </a:rPr>
              <a:t>Dining Activation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2286000"/>
            <a:ext cx="1572768" cy="4206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57800" y="2286000"/>
            <a:ext cx="1572768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2359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87171"/>
                </a:solidFill>
              </a:rPr>
              <a:t>最重要：is_evening + weather_score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2926080"/>
            <a:ext cx="1463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傍晚时段 + 温度/降雨评分 + 赛事联动
排除工作日早晚高峰和配送依赖时段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4434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A3AF"/>
                </a:solidFill>
              </a:rPr>
              <a:t>season_score 季节修正系数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1783080"/>
            <a:ext cx="1572768" cy="5029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6872" y="18013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18745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F1A"/>
                </a:solidFill>
              </a:rPr>
              <a:t>Play Street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2286000"/>
            <a:ext cx="1572768" cy="4206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03720" y="2286000"/>
            <a:ext cx="1572768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59" y="2359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EE7B7"/>
                </a:solidFill>
              </a:rPr>
              <a:t>最重要：child_density + traffic_volume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59" y="2926080"/>
            <a:ext cx="1463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0-14岁儿童人口密度 + 日均车流量
Play Streets 历史批准记录作为强正信号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59" y="4434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A3AF"/>
                </a:solidFill>
              </a:rPr>
              <a:t>has_play_street_history 权重最高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1783080"/>
            <a:ext cx="1572768" cy="502920"/>
          </a:xfrm>
          <a:prstGeom prst="rect">
            <a:avLst/>
          </a:prstGeom>
          <a:solidFill>
            <a:srgbClr val="FB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18013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🏟️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18745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F1A"/>
                </a:solidFill>
              </a:rPr>
              <a:t>Event Spillover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2286000"/>
            <a:ext cx="1572768" cy="4206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49640" y="2286000"/>
            <a:ext cx="1572768" cy="36576"/>
          </a:xfrm>
          <a:prstGeom prst="rect">
            <a:avLst/>
          </a:prstGeom>
          <a:solidFill>
            <a:srgbClr val="FB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41080" y="2359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A"/>
                </a:solidFill>
              </a:rPr>
              <a:t>最重要：event_crowd_size + distance_to_venue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2926080"/>
            <a:ext cx="1463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场馆容量 x 上座率 + 距场馆距离
是否影响关键干道通行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4434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A3AF"/>
                </a:solidFill>
              </a:rPr>
              <a:t>arterial_conflict 直接否决项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95560" y="1783080"/>
            <a:ext cx="1572768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68712" y="18013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60" y="187451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F1A"/>
                </a:solidFill>
              </a:rPr>
              <a:t>Transit Zone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95560" y="2286000"/>
            <a:ext cx="1572768" cy="4206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195560" y="2286000"/>
            <a:ext cx="157276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87000" y="235915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</a:rPr>
              <a:t>最重要：transit_frequency + pedestrian_overflow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2926080"/>
            <a:ext cx="1463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以30街火车站为例：Amtrak+SEPTA换乘密度
早晚高峰 is_rush_hour=1 直接否决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4434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A3AF"/>
                </a:solidFill>
              </a:rPr>
              <a:t>bus_route_dependency 为硬约束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760720"/>
            <a:ext cx="11521440" cy="713232"/>
          </a:xfrm>
          <a:prstGeom prst="rect">
            <a:avLst/>
          </a:prstGeom>
          <a:solidFill>
            <a:srgbClr val="1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58338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共同机制：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5833872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所有场景共享同一套特征体系（时段/活动/安全/社区）；差异体现在各特征的权重上。硬约束条件（紧急通道、高峰期）直接否决，不进入模型。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3 /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2194560" cy="347472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F1A"/>
                </a:solidFill>
              </a:rPr>
              <a:t>MODEL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模型完整分析流程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从原始数据到开放决策的四个步骤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2834640" cy="868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F1A"/>
                </a:solidFill>
              </a:rPr>
              <a:t>①
数据接入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2834640" cy="31546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697480"/>
            <a:ext cx="54864" cy="3154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788920"/>
            <a:ext cx="2560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OpenDataPhilly
SEPTA GTFS
ACS Census
OpenStreetMap
Vision Zero
OpenWeather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897880"/>
            <a:ext cx="2834640" cy="685800"/>
          </a:xfrm>
          <a:prstGeom prst="rect">
            <a:avLst/>
          </a:prstGeom>
          <a:solidFill>
            <a:srgbClr val="10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A5FA"/>
                </a:solidFill>
              </a:rPr>
              <a:t>6个公开数据库
空间连接到每个anchor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EE7B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783080"/>
            <a:ext cx="2834640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82880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F1A"/>
                </a:solidFill>
              </a:rPr>
              <a:t>②
特征工程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697480"/>
            <a:ext cx="2834640" cy="31546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697480"/>
            <a:ext cx="54864" cy="3154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788920"/>
            <a:ext cx="2560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时段特征
time_match_score
活动特征
pedestrian_density
安全特征
accident_count
社区特征
child_density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5897880"/>
            <a:ext cx="2834640" cy="685800"/>
          </a:xfrm>
          <a:prstGeom prst="rect">
            <a:avLst/>
          </a:prstGeom>
          <a:solidFill>
            <a:srgbClr val="10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59436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BBF24"/>
                </a:solidFill>
              </a:rPr>
              <a:t>每个anchor变成
一行数字向量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11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EE7B7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783080"/>
            <a:ext cx="2834640" cy="86868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2880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F1A"/>
                </a:solidFill>
              </a:rPr>
              <a:t>③
XGBoost训练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697480"/>
            <a:ext cx="2834640" cy="31546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697480"/>
            <a:ext cx="54864" cy="315468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2788920"/>
            <a:ext cx="2560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正样本
Play Streets历史
批准记录
负样本
Vision Zero
高事故路段
7个场景
独立训练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897880"/>
            <a:ext cx="2834640" cy="685800"/>
          </a:xfrm>
          <a:prstGeom prst="rect">
            <a:avLst/>
          </a:prstGeom>
          <a:solidFill>
            <a:srgbClr val="10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9436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E7B7"/>
                </a:solidFill>
              </a:rPr>
              <a:t>梯度提升
不断修正误差
输出0-100评分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11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EE7B7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1783080"/>
            <a:ext cx="2834640" cy="868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82880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F1A"/>
                </a:solidFill>
              </a:rPr>
              <a:t>④
结果输出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697480"/>
            <a:ext cx="2834640" cy="31546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2697480"/>
            <a:ext cx="54864" cy="3154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2788920"/>
            <a:ext cx="2560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FSI Score: 0-100
建议开放 ✅
条件开放 ⚠️
不建议   ❌
SHAP主因解释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5897880"/>
            <a:ext cx="2834640" cy="685800"/>
          </a:xfrm>
          <a:prstGeom prst="rect">
            <a:avLst/>
          </a:prstGeom>
          <a:solidFill>
            <a:srgbClr val="10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59436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87171"/>
                </a:solidFill>
              </a:rPr>
              <a:t>写入Supabase
前端实时显示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583680"/>
            <a:ext cx="11521440" cy="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* 硬约束（紧急通道 / 早晚高峰）在步骤②之前直接过滤，不进入模型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</a:rPr>
              <a:t>4 /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"/>
            <a:ext cx="219456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F1A"/>
                </a:solidFill>
              </a:rPr>
              <a:t>FRONTEND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前端输出展示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规划师在地图上点击任意 anchor，即可看到评分结果与开放建议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4389120" cy="4754880"/>
          </a:xfrm>
          <a:prstGeom prst="rect">
            <a:avLst/>
          </a:prstGeom>
          <a:solidFill>
            <a:srgbClr val="13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4389120" cy="54864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4023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Clark Elementary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🏫 School Dismissal    |   amenity: school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4206240" cy="9601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07208"/>
            <a:ext cx="868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6EE7B7"/>
                </a:solidFill>
              </a:rPr>
              <a:t>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272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/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944368"/>
            <a:ext cx="2240280" cy="438912"/>
          </a:xfrm>
          <a:prstGeom prst="rect">
            <a:avLst/>
          </a:prstGeom>
          <a:solidFill>
            <a:srgbClr val="14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300837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建议开放 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03904"/>
            <a:ext cx="4206240" cy="18288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803904"/>
            <a:ext cx="3449116" cy="18288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主要影响因子 (SHAP)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80560"/>
            <a:ext cx="4206240" cy="310896"/>
          </a:xfrm>
          <a:prstGeom prst="rect">
            <a:avLst/>
          </a:prstGeom>
          <a:solidFill>
            <a:srgbClr val="1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5079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+35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5079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放学时段高度匹配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28032"/>
            <a:ext cx="4206240" cy="310896"/>
          </a:xfrm>
          <a:prstGeom prst="rect">
            <a:avLst/>
          </a:prstGeom>
          <a:solidFill>
            <a:srgbClr val="1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8554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+28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8554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低交通冲突风险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175504"/>
            <a:ext cx="4206240" cy="310896"/>
          </a:xfrm>
          <a:prstGeom prst="rect">
            <a:avLst/>
          </a:prstGeom>
          <a:solidFill>
            <a:srgbClr val="1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2029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+19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20293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周边儿童密度高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4206240" cy="310896"/>
          </a:xfrm>
          <a:prstGeom prst="rect">
            <a:avLst/>
          </a:prstGeom>
          <a:solidFill>
            <a:srgbClr val="1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55040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55504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附近有SEPTA线路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870448"/>
            <a:ext cx="4206240" cy="310896"/>
          </a:xfrm>
          <a:prstGeom prst="rect">
            <a:avLst/>
          </a:prstGeom>
          <a:solidFill>
            <a:srgbClr val="1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89787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 -8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5897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停车需求中等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1828800"/>
            <a:ext cx="2286000" cy="2423160"/>
          </a:xfrm>
          <a:prstGeom prst="rect">
            <a:avLst/>
          </a:prstGeom>
          <a:solidFill>
            <a:srgbClr val="14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1828800"/>
            <a:ext cx="2286000" cy="54864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19385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70 – 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23774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建议开放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29077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条件充分
可直接申请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24928" y="1828800"/>
            <a:ext cx="2286000" cy="2423160"/>
          </a:xfrm>
          <a:prstGeom prst="rect">
            <a:avLst/>
          </a:prstGeom>
          <a:solidFill>
            <a:srgbClr val="3A2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24928" y="1828800"/>
            <a:ext cx="22860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2088" y="19385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40 – 69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23774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条件开放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2088" y="29077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需配合
交通管控措施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0656" y="1828800"/>
            <a:ext cx="2286000" cy="2423160"/>
          </a:xfrm>
          <a:prstGeom prst="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20656" y="1828800"/>
            <a:ext cx="22860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57816" y="19385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</a:rPr>
              <a:t>0 – 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7816" y="23774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不建议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57816" y="290779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风险过高
暂不适合开放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4434840"/>
            <a:ext cx="6858000" cy="2148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4434840"/>
            <a:ext cx="68580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66360" y="45262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为什么需要 SHAP 解释？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4956048"/>
            <a:ext cx="6583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规划师不只需要一个数字——他们需要向政府审批部门和社区居民说明理由。
SHAP（SHapley Additive exPlanations）是标准的 ML 可解释性工具，
能将每个特征对最终评分的贡献量化为正负分值，
让「为什么这条街得82分」有据可查、可沟通、可答辩。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